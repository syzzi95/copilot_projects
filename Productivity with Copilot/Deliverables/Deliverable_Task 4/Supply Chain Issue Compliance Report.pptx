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5" r:id="rId7"/>
    <p:sldId id="266"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10" d="100"/>
          <a:sy n="110" d="100"/>
        </p:scale>
        <p:origin x="297"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Aga, Said-Aga" userId="633ebe70-a9a6-4107-92b2-4d3dce28a0fa" providerId="ADAL" clId="{DE2ADC9F-6B8A-4DEE-9974-5976327E7DFD}"/>
    <pc:docChg chg="custSel delSld modSld">
      <pc:chgData name="Shah-Aga, Said-Aga" userId="633ebe70-a9a6-4107-92b2-4d3dce28a0fa" providerId="ADAL" clId="{DE2ADC9F-6B8A-4DEE-9974-5976327E7DFD}" dt="2026-08-28T09:50:56.398" v="0" actId="26606"/>
      <pc:docMkLst>
        <pc:docMk/>
      </pc:docMkLst>
      <pc:sldChg chg="modSp mod">
        <pc:chgData name="Shah-Aga, Said-Aga" userId="633ebe70-a9a6-4107-92b2-4d3dce28a0fa" providerId="ADAL" clId="{DE2ADC9F-6B8A-4DEE-9974-5976327E7DFD}" dt="2026-08-28T09:50:56.398" v="0" actId="26606"/>
        <pc:sldMkLst>
          <pc:docMk/>
          <pc:sldMk cId="0" sldId="257"/>
        </pc:sldMkLst>
        <pc:spChg chg="mod">
          <ac:chgData name="Shah-Aga, Said-Aga" userId="633ebe70-a9a6-4107-92b2-4d3dce28a0fa" providerId="ADAL" clId="{DE2ADC9F-6B8A-4DEE-9974-5976327E7DFD}" dt="2026-08-28T09:50:56.398" v="0" actId="26606"/>
          <ac:spMkLst>
            <pc:docMk/>
            <pc:sldMk cId="0" sldId="257"/>
            <ac:spMk id="4" creationId="{00000000-0000-0000-0000-000000000000}"/>
          </ac:spMkLst>
        </pc:spChg>
      </pc:sldChg>
      <pc:sldChg chg="modSp mod">
        <pc:chgData name="Shah-Aga, Said-Aga" userId="633ebe70-a9a6-4107-92b2-4d3dce28a0fa" providerId="ADAL" clId="{DE2ADC9F-6B8A-4DEE-9974-5976327E7DFD}" dt="2026-08-28T09:50:56.398" v="0" actId="26606"/>
        <pc:sldMkLst>
          <pc:docMk/>
          <pc:sldMk cId="0" sldId="258"/>
        </pc:sldMkLst>
        <pc:spChg chg="mod">
          <ac:chgData name="Shah-Aga, Said-Aga" userId="633ebe70-a9a6-4107-92b2-4d3dce28a0fa" providerId="ADAL" clId="{DE2ADC9F-6B8A-4DEE-9974-5976327E7DFD}" dt="2026-08-28T09:50:56.398" v="0" actId="26606"/>
          <ac:spMkLst>
            <pc:docMk/>
            <pc:sldMk cId="0" sldId="258"/>
            <ac:spMk id="4" creationId="{00000000-0000-0000-0000-000000000000}"/>
          </ac:spMkLst>
        </pc:spChg>
      </pc:sldChg>
      <pc:sldChg chg="modSp mod">
        <pc:chgData name="Shah-Aga, Said-Aga" userId="633ebe70-a9a6-4107-92b2-4d3dce28a0fa" providerId="ADAL" clId="{DE2ADC9F-6B8A-4DEE-9974-5976327E7DFD}" dt="2026-08-28T09:50:56.398" v="0" actId="26606"/>
        <pc:sldMkLst>
          <pc:docMk/>
          <pc:sldMk cId="0" sldId="259"/>
        </pc:sldMkLst>
        <pc:spChg chg="mod">
          <ac:chgData name="Shah-Aga, Said-Aga" userId="633ebe70-a9a6-4107-92b2-4d3dce28a0fa" providerId="ADAL" clId="{DE2ADC9F-6B8A-4DEE-9974-5976327E7DFD}" dt="2026-08-28T09:50:56.398" v="0" actId="26606"/>
          <ac:spMkLst>
            <pc:docMk/>
            <pc:sldMk cId="0" sldId="259"/>
            <ac:spMk id="4" creationId="{00000000-0000-0000-0000-000000000000}"/>
          </ac:spMkLst>
        </pc:spChg>
      </pc:sldChg>
      <pc:sldChg chg="modSp mod">
        <pc:chgData name="Shah-Aga, Said-Aga" userId="633ebe70-a9a6-4107-92b2-4d3dce28a0fa" providerId="ADAL" clId="{DE2ADC9F-6B8A-4DEE-9974-5976327E7DFD}" dt="2026-08-28T09:50:56.398" v="0" actId="26606"/>
        <pc:sldMkLst>
          <pc:docMk/>
          <pc:sldMk cId="0" sldId="260"/>
        </pc:sldMkLst>
        <pc:spChg chg="mod">
          <ac:chgData name="Shah-Aga, Said-Aga" userId="633ebe70-a9a6-4107-92b2-4d3dce28a0fa" providerId="ADAL" clId="{DE2ADC9F-6B8A-4DEE-9974-5976327E7DFD}" dt="2026-08-28T09:50:56.398" v="0" actId="26606"/>
          <ac:spMkLst>
            <pc:docMk/>
            <pc:sldMk cId="0" sldId="260"/>
            <ac:spMk id="4" creationId="{00000000-0000-0000-0000-000000000000}"/>
          </ac:spMkLst>
        </pc:spChg>
      </pc:sldChg>
      <pc:sldChg chg="del">
        <pc:chgData name="Shah-Aga, Said-Aga" userId="633ebe70-a9a6-4107-92b2-4d3dce28a0fa" providerId="ADAL" clId="{DE2ADC9F-6B8A-4DEE-9974-5976327E7DFD}" dt="2026-08-28T09:50:56.398" v="0" actId="26606"/>
        <pc:sldMkLst>
          <pc:docMk/>
          <pc:sldMk cId="0" sldId="261"/>
        </pc:sldMkLst>
      </pc:sldChg>
      <pc:sldChg chg="del">
        <pc:chgData name="Shah-Aga, Said-Aga" userId="633ebe70-a9a6-4107-92b2-4d3dce28a0fa" providerId="ADAL" clId="{DE2ADC9F-6B8A-4DEE-9974-5976327E7DFD}" dt="2026-08-28T09:50:56.398" v="0" actId="26606"/>
        <pc:sldMkLst>
          <pc:docMk/>
          <pc:sldMk cId="0" sldId="262"/>
        </pc:sldMkLst>
      </pc:sldChg>
      <pc:sldChg chg="del">
        <pc:chgData name="Shah-Aga, Said-Aga" userId="633ebe70-a9a6-4107-92b2-4d3dce28a0fa" providerId="ADAL" clId="{DE2ADC9F-6B8A-4DEE-9974-5976327E7DFD}" dt="2026-08-28T09:50:56.398" v="0" actId="26606"/>
        <pc:sldMkLst>
          <pc:docMk/>
          <pc:sldMk cId="0" sldId="263"/>
        </pc:sldMkLst>
      </pc:sldChg>
      <pc:sldChg chg="del">
        <pc:chgData name="Shah-Aga, Said-Aga" userId="633ebe70-a9a6-4107-92b2-4d3dce28a0fa" providerId="ADAL" clId="{DE2ADC9F-6B8A-4DEE-9974-5976327E7DFD}" dt="2026-08-28T09:50:56.398" v="0" actId="26606"/>
        <pc:sldMkLst>
          <pc:docMk/>
          <pc:sldMk cId="0" sldId="264"/>
        </pc:sldMkLst>
      </pc:sldChg>
      <pc:sldChg chg="modSp mod">
        <pc:chgData name="Shah-Aga, Said-Aga" userId="633ebe70-a9a6-4107-92b2-4d3dce28a0fa" providerId="ADAL" clId="{DE2ADC9F-6B8A-4DEE-9974-5976327E7DFD}" dt="2026-08-28T09:50:56.398" v="0" actId="26606"/>
        <pc:sldMkLst>
          <pc:docMk/>
          <pc:sldMk cId="0" sldId="265"/>
        </pc:sldMkLst>
        <pc:spChg chg="mod">
          <ac:chgData name="Shah-Aga, Said-Aga" userId="633ebe70-a9a6-4107-92b2-4d3dce28a0fa" providerId="ADAL" clId="{DE2ADC9F-6B8A-4DEE-9974-5976327E7DFD}" dt="2026-08-28T09:50:56.398" v="0" actId="26606"/>
          <ac:spMkLst>
            <pc:docMk/>
            <pc:sldMk cId="0" sldId="265"/>
            <ac:spMk id="4" creationId="{00000000-0000-0000-0000-000000000000}"/>
          </ac:spMkLst>
        </pc:spChg>
      </pc:sldChg>
      <pc:sldChg chg="modSp mod">
        <pc:chgData name="Shah-Aga, Said-Aga" userId="633ebe70-a9a6-4107-92b2-4d3dce28a0fa" providerId="ADAL" clId="{DE2ADC9F-6B8A-4DEE-9974-5976327E7DFD}" dt="2026-08-28T09:50:56.398" v="0" actId="26606"/>
        <pc:sldMkLst>
          <pc:docMk/>
          <pc:sldMk cId="0" sldId="266"/>
        </pc:sldMkLst>
        <pc:spChg chg="mod">
          <ac:chgData name="Shah-Aga, Said-Aga" userId="633ebe70-a9a6-4107-92b2-4d3dce28a0fa" providerId="ADAL" clId="{DE2ADC9F-6B8A-4DEE-9974-5976327E7DFD}" dt="2026-08-28T09:50:56.398" v="0" actId="26606"/>
          <ac:spMkLst>
            <pc:docMk/>
            <pc:sldMk cId="0" sldId="266"/>
            <ac:spMk id="4" creationId="{00000000-0000-0000-0000-000000000000}"/>
          </ac:spMkLst>
        </pc:spChg>
      </pc:sldChg>
      <pc:sldChg chg="del">
        <pc:chgData name="Shah-Aga, Said-Aga" userId="633ebe70-a9a6-4107-92b2-4d3dce28a0fa" providerId="ADAL" clId="{DE2ADC9F-6B8A-4DEE-9974-5976327E7DFD}" dt="2026-08-28T09:50:56.398" v="0" actId="26606"/>
        <pc:sldMkLst>
          <pc:docMk/>
          <pc:sldMk cId="0" sldId="267"/>
        </pc:sldMkLst>
      </pc:sldChg>
      <pc:sldChg chg="del">
        <pc:chgData name="Shah-Aga, Said-Aga" userId="633ebe70-a9a6-4107-92b2-4d3dce28a0fa" providerId="ADAL" clId="{DE2ADC9F-6B8A-4DEE-9974-5976327E7DFD}" dt="2026-08-28T09:50:56.398" v="0" actId="26606"/>
        <pc:sldMkLst>
          <pc:docMk/>
          <pc:sldMk cId="0" sldId="268"/>
        </pc:sldMkLst>
      </pc:sldChg>
      <pc:sldChg chg="del">
        <pc:chgData name="Shah-Aga, Said-Aga" userId="633ebe70-a9a6-4107-92b2-4d3dce28a0fa" providerId="ADAL" clId="{DE2ADC9F-6B8A-4DEE-9974-5976327E7DFD}" dt="2026-08-28T09:50:56.398" v="0" actId="26606"/>
        <pc:sldMkLst>
          <pc:docMk/>
          <pc:sldMk cId="0" sldId="26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On-time delivery %</c:v>
                </c:pt>
              </c:strCache>
            </c:strRef>
          </c:tx>
          <c:spPr>
            <a:solidFill>
              <a:srgbClr val="F2A81D"/>
            </a:solidFill>
            <a:effectLst/>
          </c:spPr>
          <c:invertIfNegative val="0"/>
          <c:dLbls>
            <c:numFmt formatCode="0.0" sourceLinked="0"/>
            <c:spPr>
              <a:noFill/>
              <a:ln>
                <a:noFill/>
              </a:ln>
              <a:effectLst/>
            </c:spPr>
            <c:txPr>
              <a:bodyPr/>
              <a:lstStyle/>
              <a:p>
                <a:pPr>
                  <a:defRPr sz="900" b="0" i="0" u="none" strike="noStrike">
                    <a:solidFill>
                      <a:srgbClr val="FFFFFF"/>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EcoSupply</c:v>
                </c:pt>
                <c:pt idx="1">
                  <c:v>RawMatPlus</c:v>
                </c:pt>
                <c:pt idx="2">
                  <c:v>GlobalChem</c:v>
                </c:pt>
                <c:pt idx="3">
                  <c:v>NextGen Pharma</c:v>
                </c:pt>
                <c:pt idx="4">
                  <c:v>PrimeLogistics</c:v>
                </c:pt>
              </c:strCache>
            </c:strRef>
          </c:cat>
          <c:val>
            <c:numRef>
              <c:f>Sheet1!$B$2:$B$6</c:f>
              <c:numCache>
                <c:formatCode>General</c:formatCode>
                <c:ptCount val="5"/>
                <c:pt idx="0">
                  <c:v>87.9</c:v>
                </c:pt>
                <c:pt idx="1">
                  <c:v>90.6</c:v>
                </c:pt>
                <c:pt idx="2">
                  <c:v>90.9</c:v>
                </c:pt>
                <c:pt idx="3">
                  <c:v>91.5</c:v>
                </c:pt>
                <c:pt idx="4">
                  <c:v>88</c:v>
                </c:pt>
              </c:numCache>
            </c:numRef>
          </c:val>
          <c:extLst>
            <c:ext xmlns:c16="http://schemas.microsoft.com/office/drawing/2014/chart" uri="{C3380CC4-5D6E-409C-BE32-E72D297353CC}">
              <c16:uniqueId val="{00000000-37D0-48F5-8873-83250C3F0D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C3D5E6"/>
                </a:solidFill>
                <a:latin typeface="Segoe UI"/>
              </a:defRPr>
            </a:pPr>
            <a:endParaRPr lang="en-US"/>
          </a:p>
        </c:txPr>
        <c:crossAx val="2094734552"/>
        <c:crosses val="autoZero"/>
        <c:auto val="1"/>
        <c:lblAlgn val="ctr"/>
        <c:lblOffset val="100"/>
        <c:noMultiLvlLbl val="1"/>
      </c:catAx>
      <c:valAx>
        <c:axId val="2094734552"/>
        <c:scaling>
          <c:orientation val="minMax"/>
          <c:max val="96"/>
          <c:min val="80"/>
        </c:scaling>
        <c:delete val="0"/>
        <c:axPos val="l"/>
        <c:majorGridlines>
          <c:spPr>
            <a:ln w="6350" cap="flat">
              <a:solidFill>
                <a:srgbClr val="22456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C3D5E6"/>
                </a:solidFill>
                <a:latin typeface="Segoe UI"/>
              </a:defRPr>
            </a:pPr>
            <a:endParaRPr lang="en-US"/>
          </a:p>
        </c:txPr>
        <c:crossAx val="2094734554"/>
        <c:crosses val="autoZero"/>
        <c:crossBetween val="between"/>
      </c:valAx>
      <c:spPr>
        <a:solidFill>
          <a:srgbClr val="13304F"/>
        </a:solidFill>
        <a:ln>
          <a:noFill/>
        </a:ln>
        <a:effectLst/>
      </c:spPr>
    </c:plotArea>
    <c:plotVisOnly val="1"/>
    <c:dispBlanksAs val="span"/>
    <c:showDLblsOverMax val="1"/>
  </c:chart>
  <c:spPr>
    <a:solidFill>
      <a:srgbClr val="13304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reports on supply chain issues affecting three components — BIND567, COMP042 and COMP043 — and what they mean for FDA compliance. It combines the Supply Chain Issue Analysis Report with the expanded metrics workbook covering 50 source records. The purpose today is to agree the risk picture and approve the mitigation and action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three components carry confirmed delays with receipt dates landing 15-19 December 2024, right against critical production deadlines. All three sit at Medium risk. The exposure is not just late parts — it is FDA compliance, because Good Manufacturing Practice depends on continuity of supply, traceability and documented quality. Delivery variability, supplier reliability and defect rates are the three drivers behind the delays.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components side by side. BIND567 comes from EcoSupply with a 15 December receipt and a 10-day delivery timeline. COMP042 from PrimeLogistics arrives 18 December on a 13-day timeline — that exceeds our typical threshold and may force expedited shipping, which raises cost and cuts margin. COMP043 from NextGen Pharma arrives 19 December on an 8-day timeline. All three are Medium risk, and each has a distinct mitigation plan already identified in the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come straight out of the metrics analysis of 50 records. First, Medium-risk items actually carry the longest average delivery timeline at 15.1 days — longer than High-risk items at 11.3 days, which tells us our risk labels are not tracking delivery exposure well. Second, among the delayed components COAT890 has the weakest on-time rate at 84.2%. Third, NextGen Pharma leads on on-time delivery at 91.5%. Fourth, PrimeLogistics has the highest average defect rate at 2.89%, making it our clearest quality watchpoint.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supplier scorecard drawn from all 50 records. On-time delivery ranges from 87.9% at EcoSupply to 91.5% at NextGen Pharma — every supplier sits below our 95% target. Defect rates run between 2.22% and 2.89%, all above our 2% ceiling. NextGen Pharma is strongest on delivery and quality; PrimeLogistics is weakest on defects; EcoSupply has the lowest on-time rate and the highest backorder volume at 319 units. No supplier currently meets both KPI targets.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Mitigation splits into general and component-specific. Across the board we propose expedited shipping for delayed components, identifying alternative suppliers to diversify risk, reassessing safety-stock levels, deploying AI-driven monitoring for real-time updates, and running supplier audits to find systemic issues. Component-specific: negotiate expedited terms and raise the inventory buffer with EcoSupply for BIND567; collaborate on demand planning and adjust order cycles with PrimeLogistics for COMP042; and improve forecasting accuracy plus dynamic replenishment with NextGen Pharma for COMP043.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 plan runs in three horizons. In the first week: notify suppliers of potential delays and request expedited shipping, run a rapid risk assessment for alternative suppliers, and adjust production schedules so we stay inside compliance windows. Weeks one to three: work with suppliers to refine delivery schedules, update inventory-management protocols for the adjusted safety-stock levels, and prepare compliance documentation covering the regulatory risk from delayed deliveries. Over one to three months: evaluate supplier performance for long-term partnerships, deploy advanced analytics for predictive tracking, and put contingency agreements in place with secondary suppliers.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60064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3" name="Left accent bar">
            <a:extLst>
              <a:ext uri="{C183D7F6-B498-43B3-948B-1728B52AA6E4}">
                <adec:decorative xmlns:adec="http://schemas.microsoft.com/office/drawing/2017/decorative" val="1"/>
              </a:ext>
            </a:extLst>
          </p:cNvPr>
          <p:cNvSpPr/>
          <p:nvPr/>
        </p:nvSpPr>
        <p:spPr>
          <a:xfrm>
            <a:off x="0" y="0"/>
            <a:ext cx="128016" cy="5143500"/>
          </a:xfrm>
          <a:prstGeom prst="rect">
            <a:avLst/>
          </a:prstGeom>
          <a:solidFill>
            <a:srgbClr val="F2A81D"/>
          </a:solidFill>
          <a:ln w="12700">
            <a:solidFill>
              <a:srgbClr val="F2A81D"/>
            </a:solidFill>
            <a:prstDash val="solid"/>
          </a:ln>
        </p:spPr>
        <p:txBody>
          <a:bodyPr/>
          <a:lstStyle/>
          <a:p>
            <a:endParaRPr lang="en-US"/>
          </a:p>
        </p:txBody>
      </p:sp>
      <p:sp>
        <p:nvSpPr>
          <p:cNvPr id="4" name="Right panel">
            <a:extLst>
              <a:ext uri="{C183D7F6-B498-43B3-948B-1728B52AA6E4}">
                <adec:decorative xmlns:adec="http://schemas.microsoft.com/office/drawing/2017/decorative" val="1"/>
              </a:ext>
            </a:extLst>
          </p:cNvPr>
          <p:cNvSpPr/>
          <p:nvPr/>
        </p:nvSpPr>
        <p:spPr>
          <a:xfrm>
            <a:off x="5120640" y="0"/>
            <a:ext cx="4023360" cy="5143500"/>
          </a:xfrm>
          <a:prstGeom prst="rect">
            <a:avLst/>
          </a:prstGeom>
          <a:solidFill>
            <a:srgbClr val="13304F"/>
          </a:solidFill>
          <a:ln w="12700">
            <a:solidFill>
              <a:srgbClr val="13304F"/>
            </a:solidFill>
            <a:prstDash val="solid"/>
          </a:ln>
        </p:spPr>
        <p:txBody>
          <a:bodyPr/>
          <a:lstStyle/>
          <a:p>
            <a:endParaRPr lang="en-US"/>
          </a:p>
        </p:txBody>
      </p:sp>
      <p:sp>
        <p:nvSpPr>
          <p:cNvPr id="5" name="Text 2"/>
          <p:cNvSpPr/>
          <p:nvPr/>
        </p:nvSpPr>
        <p:spPr>
          <a:xfrm>
            <a:off x="685800" y="1234440"/>
            <a:ext cx="4206240" cy="274320"/>
          </a:xfrm>
          <a:prstGeom prst="rect">
            <a:avLst/>
          </a:prstGeom>
          <a:noFill/>
          <a:ln/>
        </p:spPr>
        <p:txBody>
          <a:bodyPr wrap="square" lIns="0" tIns="0" rIns="0" bIns="0" rtlCol="0" anchor="ctr"/>
          <a:lstStyle/>
          <a:p>
            <a:pPr marL="0" indent="0">
              <a:buNone/>
            </a:pPr>
            <a:r>
              <a:rPr lang="en-US" sz="1100" b="1" kern="0" spc="300" dirty="0">
                <a:solidFill>
                  <a:srgbClr val="F2A81D"/>
                </a:solidFill>
                <a:latin typeface="Segoe UI" pitchFamily="34" charset="0"/>
                <a:ea typeface="Segoe UI" pitchFamily="34" charset="-122"/>
                <a:cs typeface="Segoe UI" pitchFamily="34" charset="-120"/>
              </a:rPr>
              <a:t>COMPLIANCE REPORT</a:t>
            </a:r>
            <a:endParaRPr lang="en-US" sz="1100" dirty="0"/>
          </a:p>
        </p:txBody>
      </p:sp>
      <p:sp>
        <p:nvSpPr>
          <p:cNvPr id="6" name="Text 3"/>
          <p:cNvSpPr/>
          <p:nvPr/>
        </p:nvSpPr>
        <p:spPr>
          <a:xfrm>
            <a:off x="685800" y="1554480"/>
            <a:ext cx="4297680" cy="1737360"/>
          </a:xfrm>
          <a:prstGeom prst="rect">
            <a:avLst/>
          </a:prstGeom>
          <a:noFill/>
          <a:ln/>
        </p:spPr>
        <p:txBody>
          <a:bodyPr wrap="square" lIns="0" tIns="0" rIns="0" bIns="0"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Supply Chain Issue Compliance Report</a:t>
            </a:r>
            <a:endParaRPr lang="en-US" sz="3400" dirty="0"/>
          </a:p>
        </p:txBody>
      </p:sp>
      <p:sp>
        <p:nvSpPr>
          <p:cNvPr id="7" name="Text 4"/>
          <p:cNvSpPr/>
          <p:nvPr/>
        </p:nvSpPr>
        <p:spPr>
          <a:xfrm>
            <a:off x="685800" y="3200400"/>
            <a:ext cx="4206240" cy="822960"/>
          </a:xfrm>
          <a:prstGeom prst="rect">
            <a:avLst/>
          </a:prstGeom>
          <a:noFill/>
          <a:ln/>
        </p:spPr>
        <p:txBody>
          <a:bodyPr wrap="square" lIns="0" tIns="0" rIns="0" bIns="0" rtlCol="0" anchor="ctr"/>
          <a:lstStyle/>
          <a:p>
            <a:pPr marL="0" indent="0">
              <a:buNone/>
            </a:pPr>
            <a:r>
              <a:rPr lang="en-US" sz="1250" dirty="0">
                <a:solidFill>
                  <a:srgbClr val="C3D5E6"/>
                </a:solidFill>
                <a:latin typeface="Segoe UI" pitchFamily="34" charset="0"/>
                <a:ea typeface="Segoe UI" pitchFamily="34" charset="-122"/>
                <a:cs typeface="Segoe UI" pitchFamily="34" charset="-120"/>
              </a:rPr>
              <a:t>Delivery risk, supplier performance and FDA compliance exposure for BIND567, COMP042 and COMP043</a:t>
            </a:r>
            <a:endParaRPr lang="en-US" sz="1250" dirty="0"/>
          </a:p>
        </p:txBody>
      </p:sp>
      <p:sp>
        <p:nvSpPr>
          <p:cNvPr id="8" name="Text 5"/>
          <p:cNvSpPr/>
          <p:nvPr/>
        </p:nvSpPr>
        <p:spPr>
          <a:xfrm>
            <a:off x="685800" y="4114800"/>
            <a:ext cx="4206240" cy="457200"/>
          </a:xfrm>
          <a:prstGeom prst="rect">
            <a:avLst/>
          </a:prstGeom>
          <a:noFill/>
          <a:ln/>
        </p:spPr>
        <p:txBody>
          <a:bodyPr wrap="square" lIns="0" tIns="0" rIns="0" bIns="0" rtlCol="0" anchor="ctr"/>
          <a:lstStyle/>
          <a:p>
            <a:pPr marL="0" indent="0">
              <a:buNone/>
            </a:pPr>
            <a:r>
              <a:rPr lang="en-US" sz="950" i="1" dirty="0">
                <a:solidFill>
                  <a:srgbClr val="8FA6BC"/>
                </a:solidFill>
                <a:latin typeface="Segoe UI" pitchFamily="34" charset="0"/>
                <a:ea typeface="Segoe UI" pitchFamily="34" charset="-122"/>
                <a:cs typeface="Segoe UI" pitchFamily="34" charset="-120"/>
              </a:rPr>
              <a:t>Prepared from the Supply Chain Issue Analysis Report and expanded metrics dataset</a:t>
            </a:r>
            <a:endParaRPr lang="en-US" sz="950" dirty="0"/>
          </a:p>
        </p:txBody>
      </p:sp>
      <p:sp>
        <p:nvSpPr>
          <p:cNvPr id="9" name="Stat tick">
            <a:extLst>
              <a:ext uri="{C183D7F6-B498-43B3-948B-1728B52AA6E4}">
                <adec:decorative xmlns:adec="http://schemas.microsoft.com/office/drawing/2017/decorative" val="1"/>
              </a:ext>
            </a:extLst>
          </p:cNvPr>
          <p:cNvSpPr/>
          <p:nvPr/>
        </p:nvSpPr>
        <p:spPr>
          <a:xfrm>
            <a:off x="5532120" y="1143000"/>
            <a:ext cx="41148" cy="777240"/>
          </a:xfrm>
          <a:prstGeom prst="rect">
            <a:avLst/>
          </a:prstGeom>
          <a:solidFill>
            <a:srgbClr val="F2A81D"/>
          </a:solidFill>
          <a:ln w="12700">
            <a:solidFill>
              <a:srgbClr val="F2A81D"/>
            </a:solidFill>
            <a:prstDash val="solid"/>
          </a:ln>
        </p:spPr>
        <p:txBody>
          <a:bodyPr/>
          <a:lstStyle/>
          <a:p>
            <a:endParaRPr lang="en-US"/>
          </a:p>
        </p:txBody>
      </p:sp>
      <p:sp>
        <p:nvSpPr>
          <p:cNvPr id="10" name="Text 7"/>
          <p:cNvSpPr/>
          <p:nvPr/>
        </p:nvSpPr>
        <p:spPr>
          <a:xfrm>
            <a:off x="5742432" y="1088136"/>
            <a:ext cx="3108960" cy="438912"/>
          </a:xfrm>
          <a:prstGeom prst="rect">
            <a:avLst/>
          </a:prstGeom>
          <a:noFill/>
          <a:ln/>
        </p:spPr>
        <p:txBody>
          <a:bodyPr wrap="square" lIns="0" tIns="0" rIns="0" bIns="0" rtlCol="0" anchor="ctr"/>
          <a:lstStyle/>
          <a:p>
            <a:pPr marL="0" indent="0">
              <a:buNone/>
            </a:pPr>
            <a:r>
              <a:rPr lang="en-US" sz="2600" b="1" dirty="0">
                <a:solidFill>
                  <a:srgbClr val="FFC65C"/>
                </a:solidFill>
                <a:latin typeface="Segoe UI" pitchFamily="34" charset="0"/>
                <a:ea typeface="Segoe UI" pitchFamily="34" charset="-122"/>
                <a:cs typeface="Segoe UI" pitchFamily="34" charset="-120"/>
              </a:rPr>
              <a:t>3</a:t>
            </a:r>
            <a:endParaRPr lang="en-US" sz="2600" dirty="0"/>
          </a:p>
        </p:txBody>
      </p:sp>
      <p:sp>
        <p:nvSpPr>
          <p:cNvPr id="11" name="Text 8"/>
          <p:cNvSpPr/>
          <p:nvPr/>
        </p:nvSpPr>
        <p:spPr>
          <a:xfrm>
            <a:off x="5742432" y="1536192"/>
            <a:ext cx="3108960" cy="21945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components flagged</a:t>
            </a:r>
            <a:endParaRPr lang="en-US" sz="1100" dirty="0"/>
          </a:p>
        </p:txBody>
      </p:sp>
      <p:sp>
        <p:nvSpPr>
          <p:cNvPr id="12" name="Text 9"/>
          <p:cNvSpPr/>
          <p:nvPr/>
        </p:nvSpPr>
        <p:spPr>
          <a:xfrm>
            <a:off x="5742432" y="1764792"/>
            <a:ext cx="3108960" cy="219456"/>
          </a:xfrm>
          <a:prstGeom prst="rect">
            <a:avLst/>
          </a:prstGeom>
          <a:noFill/>
          <a:ln/>
        </p:spPr>
        <p:txBody>
          <a:bodyPr wrap="square" lIns="0" tIns="0" rIns="0" bIns="0" rtlCol="0" anchor="ctr"/>
          <a:lstStyle/>
          <a:p>
            <a:pPr marL="0" indent="0">
              <a:buNone/>
            </a:pPr>
            <a:r>
              <a:rPr lang="en-US" sz="900" dirty="0">
                <a:solidFill>
                  <a:srgbClr val="C3D5E6"/>
                </a:solidFill>
                <a:latin typeface="Segoe UI" pitchFamily="34" charset="0"/>
                <a:ea typeface="Segoe UI" pitchFamily="34" charset="-122"/>
                <a:cs typeface="Segoe UI" pitchFamily="34" charset="-120"/>
              </a:rPr>
              <a:t>All at Medium risk</a:t>
            </a:r>
            <a:endParaRPr lang="en-US" sz="900" dirty="0"/>
          </a:p>
        </p:txBody>
      </p:sp>
      <p:sp>
        <p:nvSpPr>
          <p:cNvPr id="13" name="Stat tick">
            <a:extLst>
              <a:ext uri="{C183D7F6-B498-43B3-948B-1728B52AA6E4}">
                <adec:decorative xmlns:adec="http://schemas.microsoft.com/office/drawing/2017/decorative" val="1"/>
              </a:ext>
            </a:extLst>
          </p:cNvPr>
          <p:cNvSpPr/>
          <p:nvPr/>
        </p:nvSpPr>
        <p:spPr>
          <a:xfrm>
            <a:off x="5532120" y="2194560"/>
            <a:ext cx="41148" cy="777240"/>
          </a:xfrm>
          <a:prstGeom prst="rect">
            <a:avLst/>
          </a:prstGeom>
          <a:solidFill>
            <a:srgbClr val="F2A81D"/>
          </a:solidFill>
          <a:ln w="12700">
            <a:solidFill>
              <a:srgbClr val="F2A81D"/>
            </a:solidFill>
            <a:prstDash val="solid"/>
          </a:ln>
        </p:spPr>
        <p:txBody>
          <a:bodyPr/>
          <a:lstStyle/>
          <a:p>
            <a:endParaRPr lang="en-US"/>
          </a:p>
        </p:txBody>
      </p:sp>
      <p:sp>
        <p:nvSpPr>
          <p:cNvPr id="14" name="Text 11"/>
          <p:cNvSpPr/>
          <p:nvPr/>
        </p:nvSpPr>
        <p:spPr>
          <a:xfrm>
            <a:off x="5742432" y="2139696"/>
            <a:ext cx="3108960" cy="438912"/>
          </a:xfrm>
          <a:prstGeom prst="rect">
            <a:avLst/>
          </a:prstGeom>
          <a:noFill/>
          <a:ln/>
        </p:spPr>
        <p:txBody>
          <a:bodyPr wrap="square" lIns="0" tIns="0" rIns="0" bIns="0" rtlCol="0" anchor="ctr"/>
          <a:lstStyle/>
          <a:p>
            <a:pPr marL="0" indent="0">
              <a:buNone/>
            </a:pPr>
            <a:r>
              <a:rPr lang="en-US" sz="2600" b="1" dirty="0">
                <a:solidFill>
                  <a:srgbClr val="FFC65C"/>
                </a:solidFill>
                <a:latin typeface="Segoe UI" pitchFamily="34" charset="0"/>
                <a:ea typeface="Segoe UI" pitchFamily="34" charset="-122"/>
                <a:cs typeface="Segoe UI" pitchFamily="34" charset="-120"/>
              </a:rPr>
              <a:t>50</a:t>
            </a:r>
            <a:endParaRPr lang="en-US" sz="2600" dirty="0"/>
          </a:p>
        </p:txBody>
      </p:sp>
      <p:sp>
        <p:nvSpPr>
          <p:cNvPr id="15" name="Text 12"/>
          <p:cNvSpPr/>
          <p:nvPr/>
        </p:nvSpPr>
        <p:spPr>
          <a:xfrm>
            <a:off x="5742432" y="2587752"/>
            <a:ext cx="3108960" cy="21945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source records</a:t>
            </a:r>
            <a:endParaRPr lang="en-US" sz="1100" dirty="0"/>
          </a:p>
        </p:txBody>
      </p:sp>
      <p:sp>
        <p:nvSpPr>
          <p:cNvPr id="16" name="Text 13"/>
          <p:cNvSpPr/>
          <p:nvPr/>
        </p:nvSpPr>
        <p:spPr>
          <a:xfrm>
            <a:off x="5742432" y="2816352"/>
            <a:ext cx="3108960" cy="219456"/>
          </a:xfrm>
          <a:prstGeom prst="rect">
            <a:avLst/>
          </a:prstGeom>
          <a:noFill/>
          <a:ln/>
        </p:spPr>
        <p:txBody>
          <a:bodyPr wrap="square" lIns="0" tIns="0" rIns="0" bIns="0" rtlCol="0" anchor="ctr"/>
          <a:lstStyle/>
          <a:p>
            <a:pPr marL="0" indent="0">
              <a:buNone/>
            </a:pPr>
            <a:r>
              <a:rPr lang="en-US" sz="900" dirty="0">
                <a:solidFill>
                  <a:srgbClr val="C3D5E6"/>
                </a:solidFill>
                <a:latin typeface="Segoe UI" pitchFamily="34" charset="0"/>
                <a:ea typeface="Segoe UI" pitchFamily="34" charset="-122"/>
                <a:cs typeface="Segoe UI" pitchFamily="34" charset="-120"/>
              </a:rPr>
              <a:t>Across 5 suppliers</a:t>
            </a:r>
            <a:endParaRPr lang="en-US" sz="900" dirty="0"/>
          </a:p>
        </p:txBody>
      </p:sp>
      <p:sp>
        <p:nvSpPr>
          <p:cNvPr id="17" name="Stat tick">
            <a:extLst>
              <a:ext uri="{C183D7F6-B498-43B3-948B-1728B52AA6E4}">
                <adec:decorative xmlns:adec="http://schemas.microsoft.com/office/drawing/2017/decorative" val="1"/>
              </a:ext>
            </a:extLst>
          </p:cNvPr>
          <p:cNvSpPr/>
          <p:nvPr/>
        </p:nvSpPr>
        <p:spPr>
          <a:xfrm>
            <a:off x="5532120" y="3246120"/>
            <a:ext cx="41148" cy="777240"/>
          </a:xfrm>
          <a:prstGeom prst="rect">
            <a:avLst/>
          </a:prstGeom>
          <a:solidFill>
            <a:srgbClr val="F2A81D"/>
          </a:solidFill>
          <a:ln w="12700">
            <a:solidFill>
              <a:srgbClr val="F2A81D"/>
            </a:solidFill>
            <a:prstDash val="solid"/>
          </a:ln>
        </p:spPr>
        <p:txBody>
          <a:bodyPr/>
          <a:lstStyle/>
          <a:p>
            <a:endParaRPr lang="en-US"/>
          </a:p>
        </p:txBody>
      </p:sp>
      <p:sp>
        <p:nvSpPr>
          <p:cNvPr id="18" name="Text 15"/>
          <p:cNvSpPr/>
          <p:nvPr/>
        </p:nvSpPr>
        <p:spPr>
          <a:xfrm>
            <a:off x="5742432" y="3191256"/>
            <a:ext cx="3108960" cy="438912"/>
          </a:xfrm>
          <a:prstGeom prst="rect">
            <a:avLst/>
          </a:prstGeom>
          <a:noFill/>
          <a:ln/>
        </p:spPr>
        <p:txBody>
          <a:bodyPr wrap="square" lIns="0" tIns="0" rIns="0" bIns="0" rtlCol="0" anchor="ctr"/>
          <a:lstStyle/>
          <a:p>
            <a:pPr marL="0" indent="0">
              <a:buNone/>
            </a:pPr>
            <a:r>
              <a:rPr lang="en-US" sz="2600" b="1" dirty="0">
                <a:solidFill>
                  <a:srgbClr val="FFC65C"/>
                </a:solidFill>
                <a:latin typeface="Segoe UI" pitchFamily="34" charset="0"/>
                <a:ea typeface="Segoe UI" pitchFamily="34" charset="-122"/>
                <a:cs typeface="Segoe UI" pitchFamily="34" charset="-120"/>
              </a:rPr>
              <a:t>95%</a:t>
            </a:r>
            <a:endParaRPr lang="en-US" sz="2600" dirty="0"/>
          </a:p>
        </p:txBody>
      </p:sp>
      <p:sp>
        <p:nvSpPr>
          <p:cNvPr id="19" name="Text 16"/>
          <p:cNvSpPr/>
          <p:nvPr/>
        </p:nvSpPr>
        <p:spPr>
          <a:xfrm>
            <a:off x="5742432" y="3639312"/>
            <a:ext cx="3108960" cy="219456"/>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on-time delivery target</a:t>
            </a:r>
            <a:endParaRPr lang="en-US" sz="1100" dirty="0"/>
          </a:p>
        </p:txBody>
      </p:sp>
      <p:sp>
        <p:nvSpPr>
          <p:cNvPr id="20" name="Text 17"/>
          <p:cNvSpPr/>
          <p:nvPr/>
        </p:nvSpPr>
        <p:spPr>
          <a:xfrm>
            <a:off x="5742432" y="3867912"/>
            <a:ext cx="3108960" cy="219456"/>
          </a:xfrm>
          <a:prstGeom prst="rect">
            <a:avLst/>
          </a:prstGeom>
          <a:noFill/>
          <a:ln/>
        </p:spPr>
        <p:txBody>
          <a:bodyPr wrap="square" lIns="0" tIns="0" rIns="0" bIns="0" rtlCol="0" anchor="ctr"/>
          <a:lstStyle/>
          <a:p>
            <a:pPr marL="0" indent="0">
              <a:buNone/>
            </a:pPr>
            <a:r>
              <a:rPr lang="en-US" sz="900" dirty="0">
                <a:solidFill>
                  <a:srgbClr val="C3D5E6"/>
                </a:solidFill>
                <a:latin typeface="Segoe UI" pitchFamily="34" charset="0"/>
                <a:ea typeface="Segoe UI" pitchFamily="34" charset="-122"/>
                <a:cs typeface="Segoe UI" pitchFamily="34" charset="-120"/>
              </a:rPr>
              <a:t>Current suppliers: 88-92%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dirty="0">
                <a:solidFill>
                  <a:srgbClr val="F2A81D"/>
                </a:solidFill>
                <a:latin typeface="Segoe UI" pitchFamily="34" charset="0"/>
                <a:ea typeface="Segoe UI" pitchFamily="34" charset="-122"/>
                <a:cs typeface="Segoe UI" pitchFamily="34" charset="-120"/>
              </a:rPr>
              <a:t>SUMMARY</a:t>
            </a:r>
            <a:r>
              <a:rPr lang="en-US" sz="1050" b="1" kern="0" spc="200">
                <a:solidFill>
                  <a:srgbClr val="F2A81D"/>
                </a:solidFill>
                <a:latin typeface="Segoe UI" pitchFamily="34" charset="0"/>
                <a:ea typeface="Segoe UI" pitchFamily="34" charset="-122"/>
                <a:cs typeface="Segoe UI" pitchFamily="34" charset="-120"/>
              </a:rPr>
              <a:t> OF KEY ISSUES</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Three components, one compliance exposure</a:t>
            </a:r>
            <a:endParaRPr lang="en-US" sz="2600" dirty="0"/>
          </a:p>
        </p:txBody>
      </p:sp>
      <p:sp>
        <p:nvSpPr>
          <p:cNvPr id="6" name="Row panel">
            <a:extLst>
              <a:ext uri="{C183D7F6-B498-43B3-948B-1728B52AA6E4}">
                <adec:decorative xmlns:adec="http://schemas.microsoft.com/office/drawing/2017/decorative" val="1"/>
              </a:ext>
            </a:extLst>
          </p:cNvPr>
          <p:cNvSpPr/>
          <p:nvPr/>
        </p:nvSpPr>
        <p:spPr>
          <a:xfrm>
            <a:off x="548640" y="1481328"/>
            <a:ext cx="8046720" cy="713232"/>
          </a:xfrm>
          <a:prstGeom prst="rect">
            <a:avLst/>
          </a:prstGeom>
          <a:solidFill>
            <a:srgbClr val="13304F"/>
          </a:solidFill>
          <a:ln w="12700">
            <a:solidFill>
              <a:srgbClr val="13304F"/>
            </a:solidFill>
            <a:prstDash val="solid"/>
          </a:ln>
        </p:spPr>
        <p:txBody>
          <a:bodyPr/>
          <a:lstStyle/>
          <a:p>
            <a:endParaRPr lang="en-US"/>
          </a:p>
        </p:txBody>
      </p:sp>
      <p:sp>
        <p:nvSpPr>
          <p:cNvPr id="7" name="Row accent">
            <a:extLst>
              <a:ext uri="{C183D7F6-B498-43B3-948B-1728B52AA6E4}">
                <adec:decorative xmlns:adec="http://schemas.microsoft.com/office/drawing/2017/decorative" val="1"/>
              </a:ext>
            </a:extLst>
          </p:cNvPr>
          <p:cNvSpPr/>
          <p:nvPr/>
        </p:nvSpPr>
        <p:spPr>
          <a:xfrm>
            <a:off x="548640" y="1481328"/>
            <a:ext cx="54864" cy="713232"/>
          </a:xfrm>
          <a:prstGeom prst="rect">
            <a:avLst/>
          </a:prstGeom>
          <a:solidFill>
            <a:srgbClr val="F2A81D"/>
          </a:solidFill>
          <a:ln w="12700">
            <a:solidFill>
              <a:srgbClr val="F2A81D"/>
            </a:solidFill>
            <a:prstDash val="solid"/>
          </a:ln>
        </p:spPr>
        <p:txBody>
          <a:bodyPr/>
          <a:lstStyle/>
          <a:p>
            <a:endParaRPr lang="en-US"/>
          </a:p>
        </p:txBody>
      </p:sp>
      <p:sp>
        <p:nvSpPr>
          <p:cNvPr id="8" name="Text 5"/>
          <p:cNvSpPr/>
          <p:nvPr/>
        </p:nvSpPr>
        <p:spPr>
          <a:xfrm>
            <a:off x="777240" y="1536192"/>
            <a:ext cx="2377440" cy="603504"/>
          </a:xfrm>
          <a:prstGeom prst="rect">
            <a:avLst/>
          </a:prstGeom>
          <a:noFill/>
          <a:ln/>
        </p:spPr>
        <p:txBody>
          <a:bodyPr wrap="square" lIns="0" tIns="0" rIns="0" bIns="0" rtlCol="0" anchor="ctr"/>
          <a:lstStyle/>
          <a:p>
            <a:pPr marL="0" indent="0">
              <a:buNone/>
            </a:pPr>
            <a:r>
              <a:rPr lang="en-US" sz="1250" b="1" dirty="0">
                <a:solidFill>
                  <a:srgbClr val="FFC65C"/>
                </a:solidFill>
                <a:latin typeface="Segoe UI" pitchFamily="34" charset="0"/>
                <a:ea typeface="Segoe UI" pitchFamily="34" charset="-122"/>
                <a:cs typeface="Segoe UI" pitchFamily="34" charset="-120"/>
              </a:rPr>
              <a:t>Confirmed delays</a:t>
            </a:r>
            <a:endParaRPr lang="en-US" sz="1250" dirty="0"/>
          </a:p>
        </p:txBody>
      </p:sp>
      <p:sp>
        <p:nvSpPr>
          <p:cNvPr id="9" name="Text 6"/>
          <p:cNvSpPr/>
          <p:nvPr/>
        </p:nvSpPr>
        <p:spPr>
          <a:xfrm>
            <a:off x="3200400" y="1554480"/>
            <a:ext cx="5257800" cy="566928"/>
          </a:xfrm>
          <a:prstGeom prst="rect">
            <a:avLst/>
          </a:prstGeom>
          <a:noFill/>
          <a:ln/>
        </p:spPr>
        <p:txBody>
          <a:bodyPr wrap="square" lIns="0" tIns="0" rIns="0" bIns="0" rtlCol="0" anchor="ctr"/>
          <a:lstStyle/>
          <a:p>
            <a:pPr marL="0" indent="0">
              <a:buNone/>
            </a:pPr>
            <a:r>
              <a:rPr lang="en-US" sz="1050" dirty="0">
                <a:solidFill>
                  <a:srgbClr val="D6E2EE"/>
                </a:solidFill>
                <a:latin typeface="Segoe UI" pitchFamily="34" charset="0"/>
                <a:ea typeface="Segoe UI" pitchFamily="34" charset="-122"/>
                <a:cs typeface="Segoe UI" pitchFamily="34" charset="-120"/>
              </a:rPr>
              <a:t>BIND567, COMP042 and COMP043 all have receipt dates falling close to critical production deadlines.</a:t>
            </a:r>
            <a:endParaRPr lang="en-US" sz="1050" dirty="0"/>
          </a:p>
        </p:txBody>
      </p:sp>
      <p:sp>
        <p:nvSpPr>
          <p:cNvPr id="10" name="Row panel">
            <a:extLst>
              <a:ext uri="{C183D7F6-B498-43B3-948B-1728B52AA6E4}">
                <adec:decorative xmlns:adec="http://schemas.microsoft.com/office/drawing/2017/decorative" val="1"/>
              </a:ext>
            </a:extLst>
          </p:cNvPr>
          <p:cNvSpPr/>
          <p:nvPr/>
        </p:nvSpPr>
        <p:spPr>
          <a:xfrm>
            <a:off x="548640" y="2304288"/>
            <a:ext cx="8046720" cy="713232"/>
          </a:xfrm>
          <a:prstGeom prst="rect">
            <a:avLst/>
          </a:prstGeom>
          <a:solidFill>
            <a:srgbClr val="13304F"/>
          </a:solidFill>
          <a:ln w="12700">
            <a:solidFill>
              <a:srgbClr val="13304F"/>
            </a:solidFill>
            <a:prstDash val="solid"/>
          </a:ln>
        </p:spPr>
        <p:txBody>
          <a:bodyPr/>
          <a:lstStyle/>
          <a:p>
            <a:endParaRPr lang="en-US"/>
          </a:p>
        </p:txBody>
      </p:sp>
      <p:sp>
        <p:nvSpPr>
          <p:cNvPr id="11" name="Row accent">
            <a:extLst>
              <a:ext uri="{C183D7F6-B498-43B3-948B-1728B52AA6E4}">
                <adec:decorative xmlns:adec="http://schemas.microsoft.com/office/drawing/2017/decorative" val="1"/>
              </a:ext>
            </a:extLst>
          </p:cNvPr>
          <p:cNvSpPr/>
          <p:nvPr/>
        </p:nvSpPr>
        <p:spPr>
          <a:xfrm>
            <a:off x="548640" y="2304288"/>
            <a:ext cx="54864" cy="713232"/>
          </a:xfrm>
          <a:prstGeom prst="rect">
            <a:avLst/>
          </a:prstGeom>
          <a:solidFill>
            <a:srgbClr val="F2A81D"/>
          </a:solidFill>
          <a:ln w="12700">
            <a:solidFill>
              <a:srgbClr val="F2A81D"/>
            </a:solidFill>
            <a:prstDash val="solid"/>
          </a:ln>
        </p:spPr>
        <p:txBody>
          <a:bodyPr/>
          <a:lstStyle/>
          <a:p>
            <a:endParaRPr lang="en-US"/>
          </a:p>
        </p:txBody>
      </p:sp>
      <p:sp>
        <p:nvSpPr>
          <p:cNvPr id="12" name="Text 9"/>
          <p:cNvSpPr/>
          <p:nvPr/>
        </p:nvSpPr>
        <p:spPr>
          <a:xfrm>
            <a:off x="777240" y="2359152"/>
            <a:ext cx="2377440" cy="603504"/>
          </a:xfrm>
          <a:prstGeom prst="rect">
            <a:avLst/>
          </a:prstGeom>
          <a:noFill/>
          <a:ln/>
        </p:spPr>
        <p:txBody>
          <a:bodyPr wrap="square" lIns="0" tIns="0" rIns="0" bIns="0" rtlCol="0" anchor="ctr"/>
          <a:lstStyle/>
          <a:p>
            <a:pPr marL="0" indent="0">
              <a:buNone/>
            </a:pPr>
            <a:r>
              <a:rPr lang="en-US" sz="1250" b="1" dirty="0">
                <a:solidFill>
                  <a:srgbClr val="FFC65C"/>
                </a:solidFill>
                <a:latin typeface="Segoe UI" pitchFamily="34" charset="0"/>
                <a:ea typeface="Segoe UI" pitchFamily="34" charset="-122"/>
                <a:cs typeface="Segoe UI" pitchFamily="34" charset="-120"/>
              </a:rPr>
              <a:t>Medium risk across the board</a:t>
            </a:r>
            <a:endParaRPr lang="en-US" sz="1250" dirty="0"/>
          </a:p>
        </p:txBody>
      </p:sp>
      <p:sp>
        <p:nvSpPr>
          <p:cNvPr id="13" name="Text 10"/>
          <p:cNvSpPr/>
          <p:nvPr/>
        </p:nvSpPr>
        <p:spPr>
          <a:xfrm>
            <a:off x="3200400" y="2377440"/>
            <a:ext cx="5257800" cy="566928"/>
          </a:xfrm>
          <a:prstGeom prst="rect">
            <a:avLst/>
          </a:prstGeom>
          <a:noFill/>
          <a:ln/>
        </p:spPr>
        <p:txBody>
          <a:bodyPr wrap="square" lIns="0" tIns="0" rIns="0" bIns="0" rtlCol="0" anchor="ctr"/>
          <a:lstStyle/>
          <a:p>
            <a:pPr marL="0" indent="0">
              <a:buNone/>
            </a:pPr>
            <a:r>
              <a:rPr lang="en-US" sz="1050" dirty="0">
                <a:solidFill>
                  <a:srgbClr val="D6E2EE"/>
                </a:solidFill>
                <a:latin typeface="Segoe UI" pitchFamily="34" charset="0"/>
                <a:ea typeface="Segoe UI" pitchFamily="34" charset="-122"/>
                <a:cs typeface="Segoe UI" pitchFamily="34" charset="-120"/>
              </a:rPr>
              <a:t>Each component is rated Medium risk, with limited contingency and high dependence on single suppliers.</a:t>
            </a:r>
            <a:endParaRPr lang="en-US" sz="1050" dirty="0"/>
          </a:p>
        </p:txBody>
      </p:sp>
      <p:sp>
        <p:nvSpPr>
          <p:cNvPr id="14" name="Row panel">
            <a:extLst>
              <a:ext uri="{C183D7F6-B498-43B3-948B-1728B52AA6E4}">
                <adec:decorative xmlns:adec="http://schemas.microsoft.com/office/drawing/2017/decorative" val="1"/>
              </a:ext>
            </a:extLst>
          </p:cNvPr>
          <p:cNvSpPr/>
          <p:nvPr/>
        </p:nvSpPr>
        <p:spPr>
          <a:xfrm>
            <a:off x="548640" y="3127248"/>
            <a:ext cx="8046720" cy="713232"/>
          </a:xfrm>
          <a:prstGeom prst="rect">
            <a:avLst/>
          </a:prstGeom>
          <a:solidFill>
            <a:srgbClr val="13304F"/>
          </a:solidFill>
          <a:ln w="12700">
            <a:solidFill>
              <a:srgbClr val="13304F"/>
            </a:solidFill>
            <a:prstDash val="solid"/>
          </a:ln>
        </p:spPr>
        <p:txBody>
          <a:bodyPr/>
          <a:lstStyle/>
          <a:p>
            <a:endParaRPr lang="en-US"/>
          </a:p>
        </p:txBody>
      </p:sp>
      <p:sp>
        <p:nvSpPr>
          <p:cNvPr id="15" name="Row accent">
            <a:extLst>
              <a:ext uri="{C183D7F6-B498-43B3-948B-1728B52AA6E4}">
                <adec:decorative xmlns:adec="http://schemas.microsoft.com/office/drawing/2017/decorative" val="1"/>
              </a:ext>
            </a:extLst>
          </p:cNvPr>
          <p:cNvSpPr/>
          <p:nvPr/>
        </p:nvSpPr>
        <p:spPr>
          <a:xfrm>
            <a:off x="548640" y="3127248"/>
            <a:ext cx="54864" cy="713232"/>
          </a:xfrm>
          <a:prstGeom prst="rect">
            <a:avLst/>
          </a:prstGeom>
          <a:solidFill>
            <a:srgbClr val="F2A81D"/>
          </a:solidFill>
          <a:ln w="12700">
            <a:solidFill>
              <a:srgbClr val="F2A81D"/>
            </a:solidFill>
            <a:prstDash val="solid"/>
          </a:ln>
        </p:spPr>
        <p:txBody>
          <a:bodyPr/>
          <a:lstStyle/>
          <a:p>
            <a:endParaRPr lang="en-US"/>
          </a:p>
        </p:txBody>
      </p:sp>
      <p:sp>
        <p:nvSpPr>
          <p:cNvPr id="16" name="Text 13"/>
          <p:cNvSpPr/>
          <p:nvPr/>
        </p:nvSpPr>
        <p:spPr>
          <a:xfrm>
            <a:off x="777240" y="3182112"/>
            <a:ext cx="2377440" cy="603504"/>
          </a:xfrm>
          <a:prstGeom prst="rect">
            <a:avLst/>
          </a:prstGeom>
          <a:noFill/>
          <a:ln/>
        </p:spPr>
        <p:txBody>
          <a:bodyPr wrap="square" lIns="0" tIns="0" rIns="0" bIns="0" rtlCol="0" anchor="ctr"/>
          <a:lstStyle/>
          <a:p>
            <a:pPr marL="0" indent="0">
              <a:buNone/>
            </a:pPr>
            <a:r>
              <a:rPr lang="en-US" sz="1250" b="1" dirty="0">
                <a:solidFill>
                  <a:srgbClr val="FFC65C"/>
                </a:solidFill>
                <a:latin typeface="Segoe UI" pitchFamily="34" charset="0"/>
                <a:ea typeface="Segoe UI" pitchFamily="34" charset="-122"/>
                <a:cs typeface="Segoe UI" pitchFamily="34" charset="-120"/>
              </a:rPr>
              <a:t>Compliance is the real exposure</a:t>
            </a:r>
            <a:endParaRPr lang="en-US" sz="1250" dirty="0"/>
          </a:p>
        </p:txBody>
      </p:sp>
      <p:sp>
        <p:nvSpPr>
          <p:cNvPr id="17" name="Text 14"/>
          <p:cNvSpPr/>
          <p:nvPr/>
        </p:nvSpPr>
        <p:spPr>
          <a:xfrm>
            <a:off x="3200400" y="3200400"/>
            <a:ext cx="5257800" cy="566928"/>
          </a:xfrm>
          <a:prstGeom prst="rect">
            <a:avLst/>
          </a:prstGeom>
          <a:noFill/>
          <a:ln/>
        </p:spPr>
        <p:txBody>
          <a:bodyPr wrap="square" lIns="0" tIns="0" rIns="0" bIns="0" rtlCol="0" anchor="ctr"/>
          <a:lstStyle/>
          <a:p>
            <a:pPr marL="0" indent="0">
              <a:buNone/>
            </a:pPr>
            <a:r>
              <a:rPr lang="en-US" sz="1050" dirty="0">
                <a:solidFill>
                  <a:srgbClr val="D6E2EE"/>
                </a:solidFill>
                <a:latin typeface="Segoe UI" pitchFamily="34" charset="0"/>
                <a:ea typeface="Segoe UI" pitchFamily="34" charset="-122"/>
                <a:cs typeface="Segoe UI" pitchFamily="34" charset="-120"/>
              </a:rPr>
              <a:t>Late receipt threatens GMP continuity, audit documentation and batch quality — not just schedule.</a:t>
            </a:r>
            <a:endParaRPr lang="en-US" sz="1050" dirty="0"/>
          </a:p>
        </p:txBody>
      </p:sp>
      <p:sp>
        <p:nvSpPr>
          <p:cNvPr id="18" name="Row panel">
            <a:extLst>
              <a:ext uri="{C183D7F6-B498-43B3-948B-1728B52AA6E4}">
                <adec:decorative xmlns:adec="http://schemas.microsoft.com/office/drawing/2017/decorative" val="1"/>
              </a:ext>
            </a:extLst>
          </p:cNvPr>
          <p:cNvSpPr/>
          <p:nvPr/>
        </p:nvSpPr>
        <p:spPr>
          <a:xfrm>
            <a:off x="548640" y="3950208"/>
            <a:ext cx="8046720" cy="713232"/>
          </a:xfrm>
          <a:prstGeom prst="rect">
            <a:avLst/>
          </a:prstGeom>
          <a:solidFill>
            <a:srgbClr val="13304F"/>
          </a:solidFill>
          <a:ln w="12700">
            <a:solidFill>
              <a:srgbClr val="13304F"/>
            </a:solidFill>
            <a:prstDash val="solid"/>
          </a:ln>
        </p:spPr>
        <p:txBody>
          <a:bodyPr/>
          <a:lstStyle/>
          <a:p>
            <a:endParaRPr lang="en-US"/>
          </a:p>
        </p:txBody>
      </p:sp>
      <p:sp>
        <p:nvSpPr>
          <p:cNvPr id="19" name="Row accent">
            <a:extLst>
              <a:ext uri="{C183D7F6-B498-43B3-948B-1728B52AA6E4}">
                <adec:decorative xmlns:adec="http://schemas.microsoft.com/office/drawing/2017/decorative" val="1"/>
              </a:ext>
            </a:extLst>
          </p:cNvPr>
          <p:cNvSpPr/>
          <p:nvPr/>
        </p:nvSpPr>
        <p:spPr>
          <a:xfrm>
            <a:off x="548640" y="3950208"/>
            <a:ext cx="54864" cy="713232"/>
          </a:xfrm>
          <a:prstGeom prst="rect">
            <a:avLst/>
          </a:prstGeom>
          <a:solidFill>
            <a:srgbClr val="F2A81D"/>
          </a:solidFill>
          <a:ln w="12700">
            <a:solidFill>
              <a:srgbClr val="F2A81D"/>
            </a:solidFill>
            <a:prstDash val="solid"/>
          </a:ln>
        </p:spPr>
        <p:txBody>
          <a:bodyPr/>
          <a:lstStyle/>
          <a:p>
            <a:endParaRPr lang="en-US"/>
          </a:p>
        </p:txBody>
      </p:sp>
      <p:sp>
        <p:nvSpPr>
          <p:cNvPr id="20" name="Text 17"/>
          <p:cNvSpPr/>
          <p:nvPr/>
        </p:nvSpPr>
        <p:spPr>
          <a:xfrm>
            <a:off x="777240" y="4005072"/>
            <a:ext cx="2377440" cy="603504"/>
          </a:xfrm>
          <a:prstGeom prst="rect">
            <a:avLst/>
          </a:prstGeom>
          <a:noFill/>
          <a:ln/>
        </p:spPr>
        <p:txBody>
          <a:bodyPr wrap="square" lIns="0" tIns="0" rIns="0" bIns="0" rtlCol="0" anchor="ctr"/>
          <a:lstStyle/>
          <a:p>
            <a:pPr marL="0" indent="0">
              <a:buNone/>
            </a:pPr>
            <a:r>
              <a:rPr lang="en-US" sz="1250" b="1" dirty="0">
                <a:solidFill>
                  <a:srgbClr val="FFC65C"/>
                </a:solidFill>
                <a:latin typeface="Segoe UI" pitchFamily="34" charset="0"/>
                <a:ea typeface="Segoe UI" pitchFamily="34" charset="-122"/>
                <a:cs typeface="Segoe UI" pitchFamily="34" charset="-120"/>
              </a:rPr>
              <a:t>Root causes are systemic</a:t>
            </a:r>
            <a:endParaRPr lang="en-US" sz="1250" dirty="0"/>
          </a:p>
        </p:txBody>
      </p:sp>
      <p:sp>
        <p:nvSpPr>
          <p:cNvPr id="21" name="Text 18"/>
          <p:cNvSpPr/>
          <p:nvPr/>
        </p:nvSpPr>
        <p:spPr>
          <a:xfrm>
            <a:off x="3200400" y="4023360"/>
            <a:ext cx="5257800" cy="566928"/>
          </a:xfrm>
          <a:prstGeom prst="rect">
            <a:avLst/>
          </a:prstGeom>
          <a:noFill/>
          <a:ln/>
        </p:spPr>
        <p:txBody>
          <a:bodyPr wrap="square" lIns="0" tIns="0" rIns="0" bIns="0" rtlCol="0" anchor="ctr"/>
          <a:lstStyle/>
          <a:p>
            <a:pPr marL="0" indent="0">
              <a:buNone/>
            </a:pPr>
            <a:r>
              <a:rPr lang="en-US" sz="1050" dirty="0">
                <a:solidFill>
                  <a:srgbClr val="D6E2EE"/>
                </a:solidFill>
                <a:latin typeface="Segoe UI" pitchFamily="34" charset="0"/>
                <a:ea typeface="Segoe UI" pitchFamily="34" charset="-122"/>
                <a:cs typeface="Segoe UI" pitchFamily="34" charset="-120"/>
              </a:rPr>
              <a:t>Lead-time variance, weak demand forecasting and inventory mismanagement recur across suppliers.</a:t>
            </a:r>
            <a:endParaRPr lang="en-US" sz="1050" dirty="0"/>
          </a:p>
        </p:txBody>
      </p:sp>
      <p:sp>
        <p:nvSpPr>
          <p:cNvPr id="22"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23" name="Text 20"/>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24" name="Text 21"/>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a:solidFill>
                  <a:srgbClr val="F2A81D"/>
                </a:solidFill>
                <a:latin typeface="Segoe UI" pitchFamily="34" charset="0"/>
                <a:ea typeface="Segoe UI" pitchFamily="34" charset="-122"/>
                <a:cs typeface="Segoe UI" pitchFamily="34" charset="-120"/>
              </a:rPr>
              <a:t>SUMMARY OF KEY ISSUES</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Delayed components at a glance</a:t>
            </a:r>
            <a:endParaRPr lang="en-US" sz="2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804672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84048">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Component</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Supplier</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Receipt date</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Risk</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Delivery</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lgn="l">
                        <a:buNone/>
                      </a:pPr>
                      <a:r>
                        <a:rPr lang="en-US" sz="1100" b="1" dirty="0">
                          <a:solidFill>
                            <a:srgbClr val="0B1F3A"/>
                          </a:solidFill>
                          <a:latin typeface="Segoe UI" pitchFamily="34" charset="0"/>
                          <a:ea typeface="Segoe UI" pitchFamily="34" charset="-122"/>
                          <a:cs typeface="Segoe UI" pitchFamily="34" charset="-120"/>
                        </a:rPr>
                        <a:t>Mitigation plan</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FFC65C"/>
                          </a:solidFill>
                          <a:latin typeface="Segoe UI" pitchFamily="34" charset="0"/>
                          <a:ea typeface="Segoe UI" pitchFamily="34" charset="-122"/>
                          <a:cs typeface="Segoe UI" pitchFamily="34" charset="-120"/>
                        </a:rPr>
                        <a:t>BIND567</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EcoSupply</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15-Dec-24</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Medium</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10 days</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Negotiate terms</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FFC65C"/>
                          </a:solidFill>
                          <a:latin typeface="Segoe UI" pitchFamily="34" charset="0"/>
                          <a:ea typeface="Segoe UI" pitchFamily="34" charset="-122"/>
                          <a:cs typeface="Segoe UI" pitchFamily="34" charset="-120"/>
                        </a:rPr>
                        <a:t>COMP042</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PrimeLogistics</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18-Dec-24</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Medium</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13 days</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Expedite shipping</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FFC65C"/>
                          </a:solidFill>
                          <a:latin typeface="Segoe UI" pitchFamily="34" charset="0"/>
                          <a:ea typeface="Segoe UI" pitchFamily="34" charset="-122"/>
                          <a:cs typeface="Segoe UI" pitchFamily="34" charset="-120"/>
                        </a:rPr>
                        <a:t>COMP043</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NextGen Pharma</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19-Dec-24</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Medium</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8 days</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lgn="l">
                        <a:buNone/>
                      </a:pPr>
                      <a:r>
                        <a:rPr lang="en-US" sz="1100" dirty="0">
                          <a:solidFill>
                            <a:srgbClr val="FFFFFF"/>
                          </a:solidFill>
                          <a:latin typeface="Segoe UI" pitchFamily="34" charset="0"/>
                          <a:ea typeface="Segoe UI" pitchFamily="34" charset="-122"/>
                          <a:cs typeface="Segoe UI" pitchFamily="34" charset="-120"/>
                        </a:rPr>
                        <a:t>Increase inventory</a:t>
                      </a:r>
                      <a:endParaRPr lang="en-US" sz="11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3"/>
                  </a:ext>
                </a:extLst>
              </a:tr>
            </a:tbl>
          </a:graphicData>
        </a:graphic>
      </p:graphicFrame>
      <p:sp>
        <p:nvSpPr>
          <p:cNvPr id="7" name="Note card">
            <a:extLst>
              <a:ext uri="{C183D7F6-B498-43B3-948B-1728B52AA6E4}">
                <adec:decorative xmlns:adec="http://schemas.microsoft.com/office/drawing/2017/decorative" val="1"/>
              </a:ext>
            </a:extLst>
          </p:cNvPr>
          <p:cNvSpPr/>
          <p:nvPr/>
        </p:nvSpPr>
        <p:spPr>
          <a:xfrm>
            <a:off x="548640" y="3108960"/>
            <a:ext cx="2560320" cy="1463040"/>
          </a:xfrm>
          <a:prstGeom prst="rect">
            <a:avLst/>
          </a:prstGeom>
          <a:solidFill>
            <a:srgbClr val="13304F"/>
          </a:solidFill>
          <a:ln w="12700">
            <a:solidFill>
              <a:srgbClr val="13304F"/>
            </a:solidFill>
            <a:prstDash val="solid"/>
          </a:ln>
        </p:spPr>
        <p:txBody>
          <a:bodyPr/>
          <a:lstStyle/>
          <a:p>
            <a:endParaRPr lang="en-US"/>
          </a:p>
        </p:txBody>
      </p:sp>
      <p:sp>
        <p:nvSpPr>
          <p:cNvPr id="8" name="Card top rule">
            <a:extLst>
              <a:ext uri="{C183D7F6-B498-43B3-948B-1728B52AA6E4}">
                <adec:decorative xmlns:adec="http://schemas.microsoft.com/office/drawing/2017/decorative" val="1"/>
              </a:ext>
            </a:extLst>
          </p:cNvPr>
          <p:cNvSpPr/>
          <p:nvPr/>
        </p:nvSpPr>
        <p:spPr>
          <a:xfrm>
            <a:off x="548640" y="3108960"/>
            <a:ext cx="2560320" cy="45720"/>
          </a:xfrm>
          <a:prstGeom prst="rect">
            <a:avLst/>
          </a:prstGeom>
          <a:solidFill>
            <a:srgbClr val="F2A81D"/>
          </a:solidFill>
          <a:ln w="12700">
            <a:solidFill>
              <a:srgbClr val="F2A81D"/>
            </a:solidFill>
            <a:prstDash val="solid"/>
          </a:ln>
        </p:spPr>
        <p:txBody>
          <a:bodyPr/>
          <a:lstStyle/>
          <a:p>
            <a:endParaRPr lang="en-US"/>
          </a:p>
        </p:txBody>
      </p:sp>
      <p:sp>
        <p:nvSpPr>
          <p:cNvPr id="9" name="Text 5"/>
          <p:cNvSpPr/>
          <p:nvPr/>
        </p:nvSpPr>
        <p:spPr>
          <a:xfrm>
            <a:off x="731520" y="3246120"/>
            <a:ext cx="2194560" cy="256032"/>
          </a:xfrm>
          <a:prstGeom prst="rect">
            <a:avLst/>
          </a:prstGeom>
          <a:noFill/>
          <a:ln/>
        </p:spPr>
        <p:txBody>
          <a:bodyPr wrap="square" lIns="0" tIns="0" rIns="0" bIns="0" rtlCol="0" anchor="ctr"/>
          <a:lstStyle/>
          <a:p>
            <a:pPr marL="0" indent="0">
              <a:buNone/>
            </a:pPr>
            <a:r>
              <a:rPr lang="en-US" sz="1200" b="1" dirty="0">
                <a:solidFill>
                  <a:srgbClr val="FFC65C"/>
                </a:solidFill>
                <a:latin typeface="Segoe UI" pitchFamily="34" charset="0"/>
                <a:ea typeface="Segoe UI" pitchFamily="34" charset="-122"/>
                <a:cs typeface="Segoe UI" pitchFamily="34" charset="-120"/>
              </a:rPr>
              <a:t>BIND567</a:t>
            </a:r>
            <a:endParaRPr lang="en-US" sz="1200" dirty="0"/>
          </a:p>
        </p:txBody>
      </p:sp>
      <p:sp>
        <p:nvSpPr>
          <p:cNvPr id="10" name="Text 6"/>
          <p:cNvSpPr/>
          <p:nvPr/>
        </p:nvSpPr>
        <p:spPr>
          <a:xfrm>
            <a:off x="731520" y="3493008"/>
            <a:ext cx="2194560" cy="914400"/>
          </a:xfrm>
          <a:prstGeom prst="rect">
            <a:avLst/>
          </a:prstGeom>
          <a:noFill/>
          <a:ln/>
        </p:spPr>
        <p:txBody>
          <a:bodyPr wrap="square" lIns="0" tIns="0" rIns="0" bIns="0" rtlCol="0" anchor="t"/>
          <a:lstStyle/>
          <a:p>
            <a:pPr marL="0" indent="0">
              <a:buNone/>
            </a:pPr>
            <a:r>
              <a:rPr lang="en-US" sz="950" dirty="0">
                <a:solidFill>
                  <a:srgbClr val="D6E2EE"/>
                </a:solidFill>
                <a:latin typeface="Segoe UI" pitchFamily="34" charset="0"/>
                <a:ea typeface="Segoe UI" pitchFamily="34" charset="-122"/>
                <a:cs typeface="Segoe UI" pitchFamily="34" charset="-120"/>
              </a:rPr>
              <a:t>Confirmed delay against critical production deadlines; EcoSupply reliability and defect rates need review.</a:t>
            </a:r>
            <a:endParaRPr lang="en-US" sz="950" dirty="0"/>
          </a:p>
        </p:txBody>
      </p:sp>
      <p:sp>
        <p:nvSpPr>
          <p:cNvPr id="11" name="Note card">
            <a:extLst>
              <a:ext uri="{C183D7F6-B498-43B3-948B-1728B52AA6E4}">
                <adec:decorative xmlns:adec="http://schemas.microsoft.com/office/drawing/2017/decorative" val="1"/>
              </a:ext>
            </a:extLst>
          </p:cNvPr>
          <p:cNvSpPr/>
          <p:nvPr/>
        </p:nvSpPr>
        <p:spPr>
          <a:xfrm>
            <a:off x="3291840" y="3108960"/>
            <a:ext cx="2560320" cy="1463040"/>
          </a:xfrm>
          <a:prstGeom prst="rect">
            <a:avLst/>
          </a:prstGeom>
          <a:solidFill>
            <a:srgbClr val="13304F"/>
          </a:solidFill>
          <a:ln w="12700">
            <a:solidFill>
              <a:srgbClr val="13304F"/>
            </a:solidFill>
            <a:prstDash val="solid"/>
          </a:ln>
        </p:spPr>
        <p:txBody>
          <a:bodyPr/>
          <a:lstStyle/>
          <a:p>
            <a:endParaRPr lang="en-US"/>
          </a:p>
        </p:txBody>
      </p:sp>
      <p:sp>
        <p:nvSpPr>
          <p:cNvPr id="12" name="Card top rule">
            <a:extLst>
              <a:ext uri="{C183D7F6-B498-43B3-948B-1728B52AA6E4}">
                <adec:decorative xmlns:adec="http://schemas.microsoft.com/office/drawing/2017/decorative" val="1"/>
              </a:ext>
            </a:extLst>
          </p:cNvPr>
          <p:cNvSpPr/>
          <p:nvPr/>
        </p:nvSpPr>
        <p:spPr>
          <a:xfrm>
            <a:off x="3291840" y="3108960"/>
            <a:ext cx="2560320" cy="45720"/>
          </a:xfrm>
          <a:prstGeom prst="rect">
            <a:avLst/>
          </a:prstGeom>
          <a:solidFill>
            <a:srgbClr val="F2A81D"/>
          </a:solidFill>
          <a:ln w="12700">
            <a:solidFill>
              <a:srgbClr val="F2A81D"/>
            </a:solidFill>
            <a:prstDash val="solid"/>
          </a:ln>
        </p:spPr>
        <p:txBody>
          <a:bodyPr/>
          <a:lstStyle/>
          <a:p>
            <a:endParaRPr lang="en-US"/>
          </a:p>
        </p:txBody>
      </p:sp>
      <p:sp>
        <p:nvSpPr>
          <p:cNvPr id="13" name="Text 9"/>
          <p:cNvSpPr/>
          <p:nvPr/>
        </p:nvSpPr>
        <p:spPr>
          <a:xfrm>
            <a:off x="3474720" y="3246120"/>
            <a:ext cx="2194560" cy="256032"/>
          </a:xfrm>
          <a:prstGeom prst="rect">
            <a:avLst/>
          </a:prstGeom>
          <a:noFill/>
          <a:ln/>
        </p:spPr>
        <p:txBody>
          <a:bodyPr wrap="square" lIns="0" tIns="0" rIns="0" bIns="0" rtlCol="0" anchor="ctr"/>
          <a:lstStyle/>
          <a:p>
            <a:pPr marL="0" indent="0">
              <a:buNone/>
            </a:pPr>
            <a:r>
              <a:rPr lang="en-US" sz="1200" b="1" dirty="0">
                <a:solidFill>
                  <a:srgbClr val="FFC65C"/>
                </a:solidFill>
                <a:latin typeface="Segoe UI" pitchFamily="34" charset="0"/>
                <a:ea typeface="Segoe UI" pitchFamily="34" charset="-122"/>
                <a:cs typeface="Segoe UI" pitchFamily="34" charset="-120"/>
              </a:rPr>
              <a:t>COMP042</a:t>
            </a:r>
            <a:endParaRPr lang="en-US" sz="1200" dirty="0"/>
          </a:p>
        </p:txBody>
      </p:sp>
      <p:sp>
        <p:nvSpPr>
          <p:cNvPr id="14" name="Text 10"/>
          <p:cNvSpPr/>
          <p:nvPr/>
        </p:nvSpPr>
        <p:spPr>
          <a:xfrm>
            <a:off x="3474720" y="3493008"/>
            <a:ext cx="2194560" cy="914400"/>
          </a:xfrm>
          <a:prstGeom prst="rect">
            <a:avLst/>
          </a:prstGeom>
          <a:noFill/>
          <a:ln/>
        </p:spPr>
        <p:txBody>
          <a:bodyPr wrap="square" lIns="0" tIns="0" rIns="0" bIns="0" rtlCol="0" anchor="t"/>
          <a:lstStyle/>
          <a:p>
            <a:pPr marL="0" indent="0">
              <a:buNone/>
            </a:pPr>
            <a:r>
              <a:rPr lang="en-US" sz="950" dirty="0">
                <a:solidFill>
                  <a:srgbClr val="D6E2EE"/>
                </a:solidFill>
                <a:latin typeface="Segoe UI" pitchFamily="34" charset="0"/>
                <a:ea typeface="Segoe UI" pitchFamily="34" charset="-122"/>
                <a:cs typeface="Segoe UI" pitchFamily="34" charset="-120"/>
              </a:rPr>
              <a:t>13-day timeline exceeds typical thresholds; expedited shipping would increase cost and reduce margin.</a:t>
            </a:r>
            <a:endParaRPr lang="en-US" sz="950" dirty="0"/>
          </a:p>
        </p:txBody>
      </p:sp>
      <p:sp>
        <p:nvSpPr>
          <p:cNvPr id="15" name="Note card">
            <a:extLst>
              <a:ext uri="{C183D7F6-B498-43B3-948B-1728B52AA6E4}">
                <adec:decorative xmlns:adec="http://schemas.microsoft.com/office/drawing/2017/decorative" val="1"/>
              </a:ext>
            </a:extLst>
          </p:cNvPr>
          <p:cNvSpPr/>
          <p:nvPr/>
        </p:nvSpPr>
        <p:spPr>
          <a:xfrm>
            <a:off x="6035040" y="3108960"/>
            <a:ext cx="2560320" cy="1463040"/>
          </a:xfrm>
          <a:prstGeom prst="rect">
            <a:avLst/>
          </a:prstGeom>
          <a:solidFill>
            <a:srgbClr val="13304F"/>
          </a:solidFill>
          <a:ln w="12700">
            <a:solidFill>
              <a:srgbClr val="13304F"/>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6035040" y="3108960"/>
            <a:ext cx="2560320" cy="45720"/>
          </a:xfrm>
          <a:prstGeom prst="rect">
            <a:avLst/>
          </a:prstGeom>
          <a:solidFill>
            <a:srgbClr val="F2A81D"/>
          </a:solidFill>
          <a:ln w="12700">
            <a:solidFill>
              <a:srgbClr val="F2A81D"/>
            </a:solidFill>
            <a:prstDash val="solid"/>
          </a:ln>
        </p:spPr>
        <p:txBody>
          <a:bodyPr/>
          <a:lstStyle/>
          <a:p>
            <a:endParaRPr lang="en-US"/>
          </a:p>
        </p:txBody>
      </p:sp>
      <p:sp>
        <p:nvSpPr>
          <p:cNvPr id="17" name="Text 13"/>
          <p:cNvSpPr/>
          <p:nvPr/>
        </p:nvSpPr>
        <p:spPr>
          <a:xfrm>
            <a:off x="6217920" y="3246120"/>
            <a:ext cx="2194560" cy="256032"/>
          </a:xfrm>
          <a:prstGeom prst="rect">
            <a:avLst/>
          </a:prstGeom>
          <a:noFill/>
          <a:ln/>
        </p:spPr>
        <p:txBody>
          <a:bodyPr wrap="square" lIns="0" tIns="0" rIns="0" bIns="0" rtlCol="0" anchor="ctr"/>
          <a:lstStyle/>
          <a:p>
            <a:pPr marL="0" indent="0">
              <a:buNone/>
            </a:pPr>
            <a:r>
              <a:rPr lang="en-US" sz="1200" b="1" dirty="0">
                <a:solidFill>
                  <a:srgbClr val="FFC65C"/>
                </a:solidFill>
                <a:latin typeface="Segoe UI" pitchFamily="34" charset="0"/>
                <a:ea typeface="Segoe UI" pitchFamily="34" charset="-122"/>
                <a:cs typeface="Segoe UI" pitchFamily="34" charset="-120"/>
              </a:rPr>
              <a:t>COMP043</a:t>
            </a:r>
            <a:endParaRPr lang="en-US" sz="1200" dirty="0"/>
          </a:p>
        </p:txBody>
      </p:sp>
      <p:sp>
        <p:nvSpPr>
          <p:cNvPr id="18" name="Text 14"/>
          <p:cNvSpPr/>
          <p:nvPr/>
        </p:nvSpPr>
        <p:spPr>
          <a:xfrm>
            <a:off x="6217920" y="3493008"/>
            <a:ext cx="2194560" cy="914400"/>
          </a:xfrm>
          <a:prstGeom prst="rect">
            <a:avLst/>
          </a:prstGeom>
          <a:noFill/>
          <a:ln/>
        </p:spPr>
        <p:txBody>
          <a:bodyPr wrap="square" lIns="0" tIns="0" rIns="0" bIns="0" rtlCol="0" anchor="t"/>
          <a:lstStyle/>
          <a:p>
            <a:pPr marL="0" indent="0">
              <a:buNone/>
            </a:pPr>
            <a:r>
              <a:rPr lang="en-US" sz="950" dirty="0">
                <a:solidFill>
                  <a:srgbClr val="D6E2EE"/>
                </a:solidFill>
                <a:latin typeface="Segoe UI" pitchFamily="34" charset="0"/>
                <a:ea typeface="Segoe UI" pitchFamily="34" charset="-122"/>
                <a:cs typeface="Segoe UI" pitchFamily="34" charset="-120"/>
              </a:rPr>
              <a:t>Delays point to forecasting inaccuracy and inventory mismanagement at NextGen Pharma.</a:t>
            </a:r>
            <a:endParaRPr lang="en-US" sz="950" dirty="0"/>
          </a:p>
        </p:txBody>
      </p:sp>
      <p:sp>
        <p:nvSpPr>
          <p:cNvPr id="19"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20" name="Text 16"/>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21" name="Text 17"/>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a:solidFill>
                  <a:srgbClr val="F2A81D"/>
                </a:solidFill>
                <a:latin typeface="Segoe UI" pitchFamily="34" charset="0"/>
                <a:ea typeface="Segoe UI" pitchFamily="34" charset="-122"/>
                <a:cs typeface="Segoe UI" pitchFamily="34" charset="-120"/>
              </a:rPr>
              <a:t>EXCEL DATA </a:t>
            </a:r>
            <a:r>
              <a:rPr lang="en-US" sz="1050" b="1" kern="0" spc="200" dirty="0">
                <a:solidFill>
                  <a:srgbClr val="F2A81D"/>
                </a:solidFill>
                <a:latin typeface="Segoe UI" pitchFamily="34" charset="0"/>
                <a:ea typeface="Segoe UI" pitchFamily="34" charset="-122"/>
                <a:cs typeface="Segoe UI" pitchFamily="34" charset="-120"/>
              </a:rPr>
              <a:t>ANALYSIS</a:t>
            </a:r>
            <a:r>
              <a:rPr lang="en-US" sz="1050" b="1" kern="0" spc="200">
                <a:solidFill>
                  <a:srgbClr val="F2A81D"/>
                </a:solidFill>
                <a:latin typeface="Segoe UI" pitchFamily="34" charset="0"/>
                <a:ea typeface="Segoe UI" pitchFamily="34" charset="-122"/>
                <a:cs typeface="Segoe UI" pitchFamily="34" charset="-120"/>
              </a:rPr>
              <a:t> FINDINGS</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Four findings from 50 source records</a:t>
            </a:r>
            <a:endParaRPr lang="en-US" sz="2600" dirty="0"/>
          </a:p>
        </p:txBody>
      </p:sp>
      <p:sp>
        <p:nvSpPr>
          <p:cNvPr id="6" name="Finding card">
            <a:extLst>
              <a:ext uri="{C183D7F6-B498-43B3-948B-1728B52AA6E4}">
                <adec:decorative xmlns:adec="http://schemas.microsoft.com/office/drawing/2017/decorative" val="1"/>
              </a:ext>
            </a:extLst>
          </p:cNvPr>
          <p:cNvSpPr/>
          <p:nvPr/>
        </p:nvSpPr>
        <p:spPr>
          <a:xfrm>
            <a:off x="548640" y="1517904"/>
            <a:ext cx="3931920" cy="1463040"/>
          </a:xfrm>
          <a:prstGeom prst="rect">
            <a:avLst/>
          </a:prstGeom>
          <a:solidFill>
            <a:srgbClr val="13304F"/>
          </a:solidFill>
          <a:ln w="12700">
            <a:solidFill>
              <a:srgbClr val="13304F"/>
            </a:solidFill>
            <a:prstDash val="solid"/>
          </a:ln>
        </p:spPr>
        <p:txBody>
          <a:bodyPr/>
          <a:lstStyle/>
          <a:p>
            <a:endParaRPr lang="en-US"/>
          </a:p>
        </p:txBody>
      </p:sp>
      <p:sp>
        <p:nvSpPr>
          <p:cNvPr id="7" name="Card accent">
            <a:extLst>
              <a:ext uri="{C183D7F6-B498-43B3-948B-1728B52AA6E4}">
                <adec:decorative xmlns:adec="http://schemas.microsoft.com/office/drawing/2017/decorative" val="1"/>
              </a:ext>
            </a:extLst>
          </p:cNvPr>
          <p:cNvSpPr/>
          <p:nvPr/>
        </p:nvSpPr>
        <p:spPr>
          <a:xfrm>
            <a:off x="548640" y="1517904"/>
            <a:ext cx="54864" cy="1463040"/>
          </a:xfrm>
          <a:prstGeom prst="rect">
            <a:avLst/>
          </a:prstGeom>
          <a:solidFill>
            <a:srgbClr val="F2A81D"/>
          </a:solidFill>
          <a:ln w="12700">
            <a:solidFill>
              <a:srgbClr val="F2A81D"/>
            </a:solidFill>
            <a:prstDash val="solid"/>
          </a:ln>
        </p:spPr>
        <p:txBody>
          <a:bodyPr/>
          <a:lstStyle/>
          <a:p>
            <a:endParaRPr lang="en-US"/>
          </a:p>
        </p:txBody>
      </p:sp>
      <p:sp>
        <p:nvSpPr>
          <p:cNvPr id="8" name="Text 5"/>
          <p:cNvSpPr/>
          <p:nvPr/>
        </p:nvSpPr>
        <p:spPr>
          <a:xfrm>
            <a:off x="804672" y="1645920"/>
            <a:ext cx="3474720" cy="457200"/>
          </a:xfrm>
          <a:prstGeom prst="rect">
            <a:avLst/>
          </a:prstGeom>
          <a:noFill/>
          <a:ln/>
        </p:spPr>
        <p:txBody>
          <a:bodyPr wrap="square" lIns="0" tIns="0" rIns="0" bIns="0" rtlCol="0" anchor="ctr"/>
          <a:lstStyle/>
          <a:p>
            <a:pPr marL="0" indent="0">
              <a:buNone/>
            </a:pPr>
            <a:r>
              <a:rPr lang="en-US" sz="2400" b="1" dirty="0">
                <a:solidFill>
                  <a:srgbClr val="FFC65C"/>
                </a:solidFill>
                <a:latin typeface="Segoe UI" pitchFamily="34" charset="0"/>
                <a:ea typeface="Segoe UI" pitchFamily="34" charset="-122"/>
                <a:cs typeface="Segoe UI" pitchFamily="34" charset="-120"/>
              </a:rPr>
              <a:t>15.1 days</a:t>
            </a:r>
            <a:endParaRPr lang="en-US" sz="2400" dirty="0"/>
          </a:p>
        </p:txBody>
      </p:sp>
      <p:sp>
        <p:nvSpPr>
          <p:cNvPr id="9" name="Text 6"/>
          <p:cNvSpPr/>
          <p:nvPr/>
        </p:nvSpPr>
        <p:spPr>
          <a:xfrm>
            <a:off x="804672" y="2093976"/>
            <a:ext cx="3474720" cy="256032"/>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Medium-risk average delivery</a:t>
            </a:r>
            <a:endParaRPr lang="en-US" sz="1150" dirty="0"/>
          </a:p>
        </p:txBody>
      </p:sp>
      <p:sp>
        <p:nvSpPr>
          <p:cNvPr id="10" name="Text 7"/>
          <p:cNvSpPr/>
          <p:nvPr/>
        </p:nvSpPr>
        <p:spPr>
          <a:xfrm>
            <a:off x="804672" y="2340864"/>
            <a:ext cx="3520440" cy="548640"/>
          </a:xfrm>
          <a:prstGeom prst="rect">
            <a:avLst/>
          </a:prstGeom>
          <a:noFill/>
          <a:ln/>
        </p:spPr>
        <p:txBody>
          <a:bodyPr wrap="square" lIns="0" tIns="0" rIns="0" bIns="0" rtlCol="0" anchor="t"/>
          <a:lstStyle/>
          <a:p>
            <a:pPr marL="0" indent="0">
              <a:buNone/>
            </a:pPr>
            <a:r>
              <a:rPr lang="en-US" sz="950" dirty="0">
                <a:solidFill>
                  <a:srgbClr val="C3D5E6"/>
                </a:solidFill>
                <a:latin typeface="Segoe UI" pitchFamily="34" charset="0"/>
                <a:ea typeface="Segoe UI" pitchFamily="34" charset="-122"/>
                <a:cs typeface="Segoe UI" pitchFamily="34" charset="-120"/>
              </a:rPr>
              <a:t>Longer than High risk (11.3 days) — risk labels are not tracking delivery exposure.</a:t>
            </a:r>
            <a:endParaRPr lang="en-US" sz="950" dirty="0"/>
          </a:p>
        </p:txBody>
      </p:sp>
      <p:sp>
        <p:nvSpPr>
          <p:cNvPr id="11" name="Finding card">
            <a:extLst>
              <a:ext uri="{C183D7F6-B498-43B3-948B-1728B52AA6E4}">
                <adec:decorative xmlns:adec="http://schemas.microsoft.com/office/drawing/2017/decorative" val="1"/>
              </a:ext>
            </a:extLst>
          </p:cNvPr>
          <p:cNvSpPr/>
          <p:nvPr/>
        </p:nvSpPr>
        <p:spPr>
          <a:xfrm>
            <a:off x="4663440" y="1517904"/>
            <a:ext cx="3931920" cy="1463040"/>
          </a:xfrm>
          <a:prstGeom prst="rect">
            <a:avLst/>
          </a:prstGeom>
          <a:solidFill>
            <a:srgbClr val="13304F"/>
          </a:solidFill>
          <a:ln w="12700">
            <a:solidFill>
              <a:srgbClr val="13304F"/>
            </a:solidFill>
            <a:prstDash val="solid"/>
          </a:ln>
        </p:spPr>
        <p:txBody>
          <a:bodyPr/>
          <a:lstStyle/>
          <a:p>
            <a:endParaRPr lang="en-US"/>
          </a:p>
        </p:txBody>
      </p:sp>
      <p:sp>
        <p:nvSpPr>
          <p:cNvPr id="12" name="Card accent">
            <a:extLst>
              <a:ext uri="{C183D7F6-B498-43B3-948B-1728B52AA6E4}">
                <adec:decorative xmlns:adec="http://schemas.microsoft.com/office/drawing/2017/decorative" val="1"/>
              </a:ext>
            </a:extLst>
          </p:cNvPr>
          <p:cNvSpPr/>
          <p:nvPr/>
        </p:nvSpPr>
        <p:spPr>
          <a:xfrm>
            <a:off x="4663440" y="1517904"/>
            <a:ext cx="54864" cy="1463040"/>
          </a:xfrm>
          <a:prstGeom prst="rect">
            <a:avLst/>
          </a:prstGeom>
          <a:solidFill>
            <a:srgbClr val="F2A81D"/>
          </a:solidFill>
          <a:ln w="12700">
            <a:solidFill>
              <a:srgbClr val="F2A81D"/>
            </a:solidFill>
            <a:prstDash val="solid"/>
          </a:ln>
        </p:spPr>
        <p:txBody>
          <a:bodyPr/>
          <a:lstStyle/>
          <a:p>
            <a:endParaRPr lang="en-US"/>
          </a:p>
        </p:txBody>
      </p:sp>
      <p:sp>
        <p:nvSpPr>
          <p:cNvPr id="13" name="Text 10"/>
          <p:cNvSpPr/>
          <p:nvPr/>
        </p:nvSpPr>
        <p:spPr>
          <a:xfrm>
            <a:off x="4919472" y="1645920"/>
            <a:ext cx="3474720" cy="457200"/>
          </a:xfrm>
          <a:prstGeom prst="rect">
            <a:avLst/>
          </a:prstGeom>
          <a:noFill/>
          <a:ln/>
        </p:spPr>
        <p:txBody>
          <a:bodyPr wrap="square" lIns="0" tIns="0" rIns="0" bIns="0" rtlCol="0" anchor="ctr"/>
          <a:lstStyle/>
          <a:p>
            <a:pPr marL="0" indent="0">
              <a:buNone/>
            </a:pPr>
            <a:r>
              <a:rPr lang="en-US" sz="2400" b="1" dirty="0">
                <a:solidFill>
                  <a:srgbClr val="FFC65C"/>
                </a:solidFill>
                <a:latin typeface="Segoe UI" pitchFamily="34" charset="0"/>
                <a:ea typeface="Segoe UI" pitchFamily="34" charset="-122"/>
                <a:cs typeface="Segoe UI" pitchFamily="34" charset="-120"/>
              </a:rPr>
              <a:t>84.2%</a:t>
            </a:r>
            <a:endParaRPr lang="en-US" sz="2400" dirty="0"/>
          </a:p>
        </p:txBody>
      </p:sp>
      <p:sp>
        <p:nvSpPr>
          <p:cNvPr id="14" name="Text 11"/>
          <p:cNvSpPr/>
          <p:nvPr/>
        </p:nvSpPr>
        <p:spPr>
          <a:xfrm>
            <a:off x="4919472" y="2093976"/>
            <a:ext cx="3474720" cy="256032"/>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COAT890 on-time rate</a:t>
            </a:r>
            <a:endParaRPr lang="en-US" sz="1150" dirty="0"/>
          </a:p>
        </p:txBody>
      </p:sp>
      <p:sp>
        <p:nvSpPr>
          <p:cNvPr id="15" name="Text 12"/>
          <p:cNvSpPr/>
          <p:nvPr/>
        </p:nvSpPr>
        <p:spPr>
          <a:xfrm>
            <a:off x="4919472" y="2340864"/>
            <a:ext cx="3520440" cy="548640"/>
          </a:xfrm>
          <a:prstGeom prst="rect">
            <a:avLst/>
          </a:prstGeom>
          <a:noFill/>
          <a:ln/>
        </p:spPr>
        <p:txBody>
          <a:bodyPr wrap="square" lIns="0" tIns="0" rIns="0" bIns="0" rtlCol="0" anchor="t"/>
          <a:lstStyle/>
          <a:p>
            <a:pPr marL="0" indent="0">
              <a:buNone/>
            </a:pPr>
            <a:r>
              <a:rPr lang="en-US" sz="950" dirty="0">
                <a:solidFill>
                  <a:srgbClr val="C3D5E6"/>
                </a:solidFill>
                <a:latin typeface="Segoe UI" pitchFamily="34" charset="0"/>
                <a:ea typeface="Segoe UI" pitchFamily="34" charset="-122"/>
                <a:cs typeface="Segoe UI" pitchFamily="34" charset="-120"/>
              </a:rPr>
              <a:t>Lowest on-time delivery among delayed components, across three suppliers.</a:t>
            </a:r>
            <a:endParaRPr lang="en-US" sz="950" dirty="0"/>
          </a:p>
        </p:txBody>
      </p:sp>
      <p:sp>
        <p:nvSpPr>
          <p:cNvPr id="16" name="Finding card">
            <a:extLst>
              <a:ext uri="{C183D7F6-B498-43B3-948B-1728B52AA6E4}">
                <adec:decorative xmlns:adec="http://schemas.microsoft.com/office/drawing/2017/decorative" val="1"/>
              </a:ext>
            </a:extLst>
          </p:cNvPr>
          <p:cNvSpPr/>
          <p:nvPr/>
        </p:nvSpPr>
        <p:spPr>
          <a:xfrm>
            <a:off x="548640" y="3163824"/>
            <a:ext cx="3931920" cy="1463040"/>
          </a:xfrm>
          <a:prstGeom prst="rect">
            <a:avLst/>
          </a:prstGeom>
          <a:solidFill>
            <a:srgbClr val="13304F"/>
          </a:solidFill>
          <a:ln w="12700">
            <a:solidFill>
              <a:srgbClr val="13304F"/>
            </a:solidFill>
            <a:prstDash val="solid"/>
          </a:ln>
        </p:spPr>
        <p:txBody>
          <a:bodyPr/>
          <a:lstStyle/>
          <a:p>
            <a:endParaRPr lang="en-US"/>
          </a:p>
        </p:txBody>
      </p:sp>
      <p:sp>
        <p:nvSpPr>
          <p:cNvPr id="17" name="Card accent">
            <a:extLst>
              <a:ext uri="{C183D7F6-B498-43B3-948B-1728B52AA6E4}">
                <adec:decorative xmlns:adec="http://schemas.microsoft.com/office/drawing/2017/decorative" val="1"/>
              </a:ext>
            </a:extLst>
          </p:cNvPr>
          <p:cNvSpPr/>
          <p:nvPr/>
        </p:nvSpPr>
        <p:spPr>
          <a:xfrm>
            <a:off x="548640" y="3163824"/>
            <a:ext cx="54864" cy="1463040"/>
          </a:xfrm>
          <a:prstGeom prst="rect">
            <a:avLst/>
          </a:prstGeom>
          <a:solidFill>
            <a:srgbClr val="F2A81D"/>
          </a:solidFill>
          <a:ln w="12700">
            <a:solidFill>
              <a:srgbClr val="F2A81D"/>
            </a:solidFill>
            <a:prstDash val="solid"/>
          </a:ln>
        </p:spPr>
        <p:txBody>
          <a:bodyPr/>
          <a:lstStyle/>
          <a:p>
            <a:endParaRPr lang="en-US"/>
          </a:p>
        </p:txBody>
      </p:sp>
      <p:sp>
        <p:nvSpPr>
          <p:cNvPr id="18" name="Text 15"/>
          <p:cNvSpPr/>
          <p:nvPr/>
        </p:nvSpPr>
        <p:spPr>
          <a:xfrm>
            <a:off x="804672" y="3291840"/>
            <a:ext cx="3474720" cy="457200"/>
          </a:xfrm>
          <a:prstGeom prst="rect">
            <a:avLst/>
          </a:prstGeom>
          <a:noFill/>
          <a:ln/>
        </p:spPr>
        <p:txBody>
          <a:bodyPr wrap="square" lIns="0" tIns="0" rIns="0" bIns="0" rtlCol="0" anchor="ctr"/>
          <a:lstStyle/>
          <a:p>
            <a:pPr marL="0" indent="0">
              <a:buNone/>
            </a:pPr>
            <a:r>
              <a:rPr lang="en-US" sz="2400" b="1" dirty="0">
                <a:solidFill>
                  <a:srgbClr val="FFC65C"/>
                </a:solidFill>
                <a:latin typeface="Segoe UI" pitchFamily="34" charset="0"/>
                <a:ea typeface="Segoe UI" pitchFamily="34" charset="-122"/>
                <a:cs typeface="Segoe UI" pitchFamily="34" charset="-120"/>
              </a:rPr>
              <a:t>91.5%</a:t>
            </a:r>
            <a:endParaRPr lang="en-US" sz="2400" dirty="0"/>
          </a:p>
        </p:txBody>
      </p:sp>
      <p:sp>
        <p:nvSpPr>
          <p:cNvPr id="19" name="Text 16"/>
          <p:cNvSpPr/>
          <p:nvPr/>
        </p:nvSpPr>
        <p:spPr>
          <a:xfrm>
            <a:off x="804672" y="3739896"/>
            <a:ext cx="3474720" cy="256032"/>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NextGen Pharma on-time</a:t>
            </a:r>
            <a:endParaRPr lang="en-US" sz="1150" dirty="0"/>
          </a:p>
        </p:txBody>
      </p:sp>
      <p:sp>
        <p:nvSpPr>
          <p:cNvPr id="20" name="Text 17"/>
          <p:cNvSpPr/>
          <p:nvPr/>
        </p:nvSpPr>
        <p:spPr>
          <a:xfrm>
            <a:off x="804672" y="3986784"/>
            <a:ext cx="3520440" cy="548640"/>
          </a:xfrm>
          <a:prstGeom prst="rect">
            <a:avLst/>
          </a:prstGeom>
          <a:noFill/>
          <a:ln/>
        </p:spPr>
        <p:txBody>
          <a:bodyPr wrap="square" lIns="0" tIns="0" rIns="0" bIns="0" rtlCol="0" anchor="t"/>
          <a:lstStyle/>
          <a:p>
            <a:pPr marL="0" indent="0">
              <a:buNone/>
            </a:pPr>
            <a:r>
              <a:rPr lang="en-US" sz="950" dirty="0">
                <a:solidFill>
                  <a:srgbClr val="C3D5E6"/>
                </a:solidFill>
                <a:latin typeface="Segoe UI" pitchFamily="34" charset="0"/>
                <a:ea typeface="Segoe UI" pitchFamily="34" charset="-122"/>
                <a:cs typeface="Segoe UI" pitchFamily="34" charset="-120"/>
              </a:rPr>
              <a:t>Best average on-time delivery of the five suppliers in the dataset.</a:t>
            </a:r>
            <a:endParaRPr lang="en-US" sz="950" dirty="0"/>
          </a:p>
        </p:txBody>
      </p:sp>
      <p:sp>
        <p:nvSpPr>
          <p:cNvPr id="21" name="Finding card">
            <a:extLst>
              <a:ext uri="{C183D7F6-B498-43B3-948B-1728B52AA6E4}">
                <adec:decorative xmlns:adec="http://schemas.microsoft.com/office/drawing/2017/decorative" val="1"/>
              </a:ext>
            </a:extLst>
          </p:cNvPr>
          <p:cNvSpPr/>
          <p:nvPr/>
        </p:nvSpPr>
        <p:spPr>
          <a:xfrm>
            <a:off x="4663440" y="3163824"/>
            <a:ext cx="3931920" cy="1463040"/>
          </a:xfrm>
          <a:prstGeom prst="rect">
            <a:avLst/>
          </a:prstGeom>
          <a:solidFill>
            <a:srgbClr val="13304F"/>
          </a:solidFill>
          <a:ln w="12700">
            <a:solidFill>
              <a:srgbClr val="13304F"/>
            </a:solidFill>
            <a:prstDash val="solid"/>
          </a:ln>
        </p:spPr>
        <p:txBody>
          <a:bodyPr/>
          <a:lstStyle/>
          <a:p>
            <a:endParaRPr lang="en-US"/>
          </a:p>
        </p:txBody>
      </p:sp>
      <p:sp>
        <p:nvSpPr>
          <p:cNvPr id="22" name="Card accent">
            <a:extLst>
              <a:ext uri="{C183D7F6-B498-43B3-948B-1728B52AA6E4}">
                <adec:decorative xmlns:adec="http://schemas.microsoft.com/office/drawing/2017/decorative" val="1"/>
              </a:ext>
            </a:extLst>
          </p:cNvPr>
          <p:cNvSpPr/>
          <p:nvPr/>
        </p:nvSpPr>
        <p:spPr>
          <a:xfrm>
            <a:off x="4663440" y="3163824"/>
            <a:ext cx="54864" cy="1463040"/>
          </a:xfrm>
          <a:prstGeom prst="rect">
            <a:avLst/>
          </a:prstGeom>
          <a:solidFill>
            <a:srgbClr val="F2A81D"/>
          </a:solidFill>
          <a:ln w="12700">
            <a:solidFill>
              <a:srgbClr val="F2A81D"/>
            </a:solidFill>
            <a:prstDash val="solid"/>
          </a:ln>
        </p:spPr>
        <p:txBody>
          <a:bodyPr/>
          <a:lstStyle/>
          <a:p>
            <a:endParaRPr lang="en-US"/>
          </a:p>
        </p:txBody>
      </p:sp>
      <p:sp>
        <p:nvSpPr>
          <p:cNvPr id="23" name="Text 20"/>
          <p:cNvSpPr/>
          <p:nvPr/>
        </p:nvSpPr>
        <p:spPr>
          <a:xfrm>
            <a:off x="4919472" y="3291840"/>
            <a:ext cx="3474720" cy="457200"/>
          </a:xfrm>
          <a:prstGeom prst="rect">
            <a:avLst/>
          </a:prstGeom>
          <a:noFill/>
          <a:ln/>
        </p:spPr>
        <p:txBody>
          <a:bodyPr wrap="square" lIns="0" tIns="0" rIns="0" bIns="0" rtlCol="0" anchor="ctr"/>
          <a:lstStyle/>
          <a:p>
            <a:pPr marL="0" indent="0">
              <a:buNone/>
            </a:pPr>
            <a:r>
              <a:rPr lang="en-US" sz="2400" b="1" dirty="0">
                <a:solidFill>
                  <a:srgbClr val="FFC65C"/>
                </a:solidFill>
                <a:latin typeface="Segoe UI" pitchFamily="34" charset="0"/>
                <a:ea typeface="Segoe UI" pitchFamily="34" charset="-122"/>
                <a:cs typeface="Segoe UI" pitchFamily="34" charset="-120"/>
              </a:rPr>
              <a:t>2.89%</a:t>
            </a:r>
            <a:endParaRPr lang="en-US" sz="2400" dirty="0"/>
          </a:p>
        </p:txBody>
      </p:sp>
      <p:sp>
        <p:nvSpPr>
          <p:cNvPr id="24" name="Text 21"/>
          <p:cNvSpPr/>
          <p:nvPr/>
        </p:nvSpPr>
        <p:spPr>
          <a:xfrm>
            <a:off x="4919472" y="3739896"/>
            <a:ext cx="3474720" cy="256032"/>
          </a:xfrm>
          <a:prstGeom prst="rect">
            <a:avLst/>
          </a:prstGeom>
          <a:noFill/>
          <a:ln/>
        </p:spPr>
        <p:txBody>
          <a:bodyPr wrap="square" lIns="0" tIns="0" rIns="0" bIns="0" rtlCol="0" anchor="ctr"/>
          <a:lstStyle/>
          <a:p>
            <a:pPr marL="0" indent="0">
              <a:buNone/>
            </a:pPr>
            <a:r>
              <a:rPr lang="en-US" sz="1150" b="1" dirty="0">
                <a:solidFill>
                  <a:srgbClr val="FFFFFF"/>
                </a:solidFill>
                <a:latin typeface="Segoe UI" pitchFamily="34" charset="0"/>
                <a:ea typeface="Segoe UI" pitchFamily="34" charset="-122"/>
                <a:cs typeface="Segoe UI" pitchFamily="34" charset="-120"/>
              </a:rPr>
              <a:t>PrimeLogistics defect rate</a:t>
            </a:r>
            <a:endParaRPr lang="en-US" sz="1150" dirty="0"/>
          </a:p>
        </p:txBody>
      </p:sp>
      <p:sp>
        <p:nvSpPr>
          <p:cNvPr id="25" name="Text 22"/>
          <p:cNvSpPr/>
          <p:nvPr/>
        </p:nvSpPr>
        <p:spPr>
          <a:xfrm>
            <a:off x="4919472" y="3986784"/>
            <a:ext cx="3520440" cy="548640"/>
          </a:xfrm>
          <a:prstGeom prst="rect">
            <a:avLst/>
          </a:prstGeom>
          <a:noFill/>
          <a:ln/>
        </p:spPr>
        <p:txBody>
          <a:bodyPr wrap="square" lIns="0" tIns="0" rIns="0" bIns="0" rtlCol="0" anchor="t"/>
          <a:lstStyle/>
          <a:p>
            <a:pPr marL="0" indent="0">
              <a:buNone/>
            </a:pPr>
            <a:r>
              <a:rPr lang="en-US" sz="950" dirty="0">
                <a:solidFill>
                  <a:srgbClr val="C3D5E6"/>
                </a:solidFill>
                <a:latin typeface="Segoe UI" pitchFamily="34" charset="0"/>
                <a:ea typeface="Segoe UI" pitchFamily="34" charset="-122"/>
                <a:cs typeface="Segoe UI" pitchFamily="34" charset="-120"/>
              </a:rPr>
              <a:t>Highest average defect rate — the clearest quality watchpoint.</a:t>
            </a:r>
            <a:endParaRPr lang="en-US" sz="950" dirty="0"/>
          </a:p>
        </p:txBody>
      </p:sp>
      <p:sp>
        <p:nvSpPr>
          <p:cNvPr id="26"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27" name="Text 24"/>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28" name="Text 25"/>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a:solidFill>
                  <a:srgbClr val="F2A81D"/>
                </a:solidFill>
                <a:latin typeface="Segoe UI" pitchFamily="34" charset="0"/>
                <a:ea typeface="Segoe UI" pitchFamily="34" charset="-122"/>
                <a:cs typeface="Segoe UI" pitchFamily="34" charset="-120"/>
              </a:rPr>
              <a:t>EXCEL DATA ANALYSIS FINDINGS</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No supplier currently meets both KPI targets</a:t>
            </a:r>
            <a:endParaRPr lang="en-US" sz="2600" dirty="0"/>
          </a:p>
        </p:txBody>
      </p:sp>
      <p:graphicFrame>
        <p:nvGraphicFramePr>
          <p:cNvPr id="6" name="Supplier on-time delivery chart" descr="Column chart of average on-time delivery rate by supplier: EcoSupply 87.9%, RawMatPlus 90.6%, GlobalChem 90.9%, NextGen Pharma 91.5%, PrimeLogistics 88.0%. All below the 95% target."/>
          <p:cNvGraphicFramePr/>
          <p:nvPr/>
        </p:nvGraphicFramePr>
        <p:xfrm>
          <a:off x="548640" y="1463040"/>
          <a:ext cx="50292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806440" y="1463040"/>
          <a:ext cx="2788920" cy="2063496"/>
        </p:xfrm>
        <a:graphic>
          <a:graphicData uri="http://schemas.openxmlformats.org/drawingml/2006/table">
            <a:tbl>
              <a:tblPr/>
              <a:tblGrid>
                <a:gridCol w="105156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603504">
                  <a:extLst>
                    <a:ext uri="{9D8B030D-6E8A-4147-A177-3AD203B41FA5}">
                      <a16:colId xmlns:a16="http://schemas.microsoft.com/office/drawing/2014/main" val="20002"/>
                    </a:ext>
                  </a:extLst>
                </a:gridCol>
                <a:gridCol w="566928">
                  <a:extLst>
                    <a:ext uri="{9D8B030D-6E8A-4147-A177-3AD203B41FA5}">
                      <a16:colId xmlns:a16="http://schemas.microsoft.com/office/drawing/2014/main" val="20003"/>
                    </a:ext>
                  </a:extLst>
                </a:gridCol>
              </a:tblGrid>
              <a:tr h="329184">
                <a:tc>
                  <a:txBody>
                    <a:bodyPr/>
                    <a:lstStyle/>
                    <a:p>
                      <a:pPr marL="0" indent="0">
                        <a:buNone/>
                      </a:pPr>
                      <a:r>
                        <a:rPr lang="en-US" sz="950" b="1" dirty="0">
                          <a:solidFill>
                            <a:srgbClr val="0B1F3A"/>
                          </a:solidFill>
                          <a:latin typeface="Segoe UI" pitchFamily="34" charset="0"/>
                          <a:ea typeface="Segoe UI" pitchFamily="34" charset="-122"/>
                          <a:cs typeface="Segoe UI" pitchFamily="34" charset="-120"/>
                        </a:rPr>
                        <a:t>Supplier</a:t>
                      </a:r>
                      <a:endParaRPr lang="en-US" sz="95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buNone/>
                      </a:pPr>
                      <a:r>
                        <a:rPr lang="en-US" sz="950" b="1" dirty="0">
                          <a:solidFill>
                            <a:srgbClr val="0B1F3A"/>
                          </a:solidFill>
                          <a:latin typeface="Segoe UI" pitchFamily="34" charset="0"/>
                          <a:ea typeface="Segoe UI" pitchFamily="34" charset="-122"/>
                          <a:cs typeface="Segoe UI" pitchFamily="34" charset="-120"/>
                        </a:rPr>
                        <a:t>Defect %</a:t>
                      </a:r>
                      <a:endParaRPr lang="en-US" sz="95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buNone/>
                      </a:pPr>
                      <a:r>
                        <a:rPr lang="en-US" sz="950" b="1" dirty="0">
                          <a:solidFill>
                            <a:srgbClr val="0B1F3A"/>
                          </a:solidFill>
                          <a:latin typeface="Segoe UI" pitchFamily="34" charset="0"/>
                          <a:ea typeface="Segoe UI" pitchFamily="34" charset="-122"/>
                          <a:cs typeface="Segoe UI" pitchFamily="34" charset="-120"/>
                        </a:rPr>
                        <a:t>Reliab. %</a:t>
                      </a:r>
                      <a:endParaRPr lang="en-US" sz="95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tc>
                  <a:txBody>
                    <a:bodyPr/>
                    <a:lstStyle/>
                    <a:p>
                      <a:pPr marL="0" indent="0">
                        <a:buNone/>
                      </a:pPr>
                      <a:r>
                        <a:rPr lang="en-US" sz="950" b="1" dirty="0">
                          <a:solidFill>
                            <a:srgbClr val="0B1F3A"/>
                          </a:solidFill>
                          <a:latin typeface="Segoe UI" pitchFamily="34" charset="0"/>
                          <a:ea typeface="Segoe UI" pitchFamily="34" charset="-122"/>
                          <a:cs typeface="Segoe UI" pitchFamily="34" charset="-120"/>
                        </a:rPr>
                        <a:t>Lead var.</a:t>
                      </a:r>
                      <a:endParaRPr lang="en-US" sz="95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F2A81D"/>
                    </a:solidFill>
                  </a:tcPr>
                </a:tc>
                <a:extLst>
                  <a:ext uri="{0D108BD9-81ED-4DB2-BD59-A6C34878D82A}">
                    <a16:rowId xmlns:a16="http://schemas.microsoft.com/office/drawing/2014/main" val="10000"/>
                  </a:ext>
                </a:extLst>
              </a:tr>
              <a:tr h="329184">
                <a:tc>
                  <a:txBody>
                    <a:bodyPr/>
                    <a:lstStyle/>
                    <a:p>
                      <a:pPr marL="0" indent="0">
                        <a:buNone/>
                      </a:pPr>
                      <a:r>
                        <a:rPr lang="en-US" sz="900" b="1" dirty="0">
                          <a:solidFill>
                            <a:srgbClr val="FFC65C"/>
                          </a:solidFill>
                          <a:latin typeface="Segoe UI" pitchFamily="34" charset="0"/>
                          <a:ea typeface="Segoe UI" pitchFamily="34" charset="-122"/>
                          <a:cs typeface="Segoe UI" pitchFamily="34" charset="-120"/>
                        </a:rPr>
                        <a:t>EcoSupply</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2.50</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93.2%</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7.4 d</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1"/>
                  </a:ext>
                </a:extLst>
              </a:tr>
              <a:tr h="329184">
                <a:tc>
                  <a:txBody>
                    <a:bodyPr/>
                    <a:lstStyle/>
                    <a:p>
                      <a:pPr marL="0" indent="0">
                        <a:buNone/>
                      </a:pPr>
                      <a:r>
                        <a:rPr lang="en-US" sz="900" b="1" dirty="0">
                          <a:solidFill>
                            <a:srgbClr val="FFC65C"/>
                          </a:solidFill>
                          <a:latin typeface="Segoe UI" pitchFamily="34" charset="0"/>
                          <a:ea typeface="Segoe UI" pitchFamily="34" charset="-122"/>
                          <a:cs typeface="Segoe UI" pitchFamily="34" charset="-120"/>
                        </a:rPr>
                        <a:t>RawMatPlus</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2.60</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92.8%</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6.8 d</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2"/>
                  </a:ext>
                </a:extLst>
              </a:tr>
              <a:tr h="329184">
                <a:tc>
                  <a:txBody>
                    <a:bodyPr/>
                    <a:lstStyle/>
                    <a:p>
                      <a:pPr marL="0" indent="0">
                        <a:buNone/>
                      </a:pPr>
                      <a:r>
                        <a:rPr lang="en-US" sz="900" b="1" dirty="0">
                          <a:solidFill>
                            <a:srgbClr val="FFC65C"/>
                          </a:solidFill>
                          <a:latin typeface="Segoe UI" pitchFamily="34" charset="0"/>
                          <a:ea typeface="Segoe UI" pitchFamily="34" charset="-122"/>
                          <a:cs typeface="Segoe UI" pitchFamily="34" charset="-120"/>
                        </a:rPr>
                        <a:t>GlobalChem</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2.57</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92.6%</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7.6 d</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3"/>
                  </a:ext>
                </a:extLst>
              </a:tr>
              <a:tr h="329184">
                <a:tc>
                  <a:txBody>
                    <a:bodyPr/>
                    <a:lstStyle/>
                    <a:p>
                      <a:pPr marL="0" indent="0">
                        <a:buNone/>
                      </a:pPr>
                      <a:r>
                        <a:rPr lang="en-US" sz="900" b="1" dirty="0">
                          <a:solidFill>
                            <a:srgbClr val="FFC65C"/>
                          </a:solidFill>
                          <a:latin typeface="Segoe UI" pitchFamily="34" charset="0"/>
                          <a:ea typeface="Segoe UI" pitchFamily="34" charset="-122"/>
                          <a:cs typeface="Segoe UI" pitchFamily="34" charset="-120"/>
                        </a:rPr>
                        <a:t>NextGen Pharma</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2.22</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91.8%</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4.9 d</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4"/>
                  </a:ext>
                </a:extLst>
              </a:tr>
              <a:tr h="329184">
                <a:tc>
                  <a:txBody>
                    <a:bodyPr/>
                    <a:lstStyle/>
                    <a:p>
                      <a:pPr marL="0" indent="0">
                        <a:buNone/>
                      </a:pPr>
                      <a:r>
                        <a:rPr lang="en-US" sz="900" b="1" dirty="0">
                          <a:solidFill>
                            <a:srgbClr val="FFC65C"/>
                          </a:solidFill>
                          <a:latin typeface="Segoe UI" pitchFamily="34" charset="0"/>
                          <a:ea typeface="Segoe UI" pitchFamily="34" charset="-122"/>
                          <a:cs typeface="Segoe UI" pitchFamily="34" charset="-120"/>
                        </a:rPr>
                        <a:t>PrimeLogistics</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2.89</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91.4%</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tc>
                  <a:txBody>
                    <a:bodyPr/>
                    <a:lstStyle/>
                    <a:p>
                      <a:pPr marL="0" indent="0">
                        <a:buNone/>
                      </a:pPr>
                      <a:r>
                        <a:rPr lang="en-US" sz="900" dirty="0">
                          <a:solidFill>
                            <a:srgbClr val="FFFFFF"/>
                          </a:solidFill>
                          <a:latin typeface="Segoe UI" pitchFamily="34" charset="0"/>
                          <a:ea typeface="Segoe UI" pitchFamily="34" charset="-122"/>
                          <a:cs typeface="Segoe UI" pitchFamily="34" charset="-120"/>
                        </a:rPr>
                        <a:t>6.7 d</a:t>
                      </a:r>
                      <a:endParaRPr lang="en-US" sz="900" dirty="0">
                        <a:latin typeface="Segoe UI" charset="0"/>
                        <a:ea typeface="Segoe UI" charset="0"/>
                        <a:cs typeface="Segoe UI" charset="0"/>
                      </a:endParaRPr>
                    </a:p>
                  </a:txBody>
                  <a:tcPr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3304F"/>
                    </a:solidFill>
                  </a:tcPr>
                </a:tc>
                <a:extLst>
                  <a:ext uri="{0D108BD9-81ED-4DB2-BD59-A6C34878D82A}">
                    <a16:rowId xmlns:a16="http://schemas.microsoft.com/office/drawing/2014/main" val="10005"/>
                  </a:ext>
                </a:extLst>
              </a:tr>
            </a:tbl>
          </a:graphicData>
        </a:graphic>
      </p:graphicFrame>
      <p:sp>
        <p:nvSpPr>
          <p:cNvPr id="8" name="Text 3"/>
          <p:cNvSpPr/>
          <p:nvPr/>
        </p:nvSpPr>
        <p:spPr>
          <a:xfrm>
            <a:off x="5806440" y="3520440"/>
            <a:ext cx="2788920" cy="822960"/>
          </a:xfrm>
          <a:prstGeom prst="rect">
            <a:avLst/>
          </a:prstGeom>
          <a:noFill/>
          <a:ln/>
        </p:spPr>
        <p:txBody>
          <a:bodyPr wrap="square" lIns="0" tIns="0" rIns="0" bIns="0" rtlCol="0" anchor="t"/>
          <a:lstStyle/>
          <a:p>
            <a:pPr marL="0" indent="0">
              <a:buNone/>
            </a:pPr>
            <a:r>
              <a:rPr lang="en-US" sz="1000" dirty="0">
                <a:solidFill>
                  <a:srgbClr val="C3D5E6"/>
                </a:solidFill>
                <a:latin typeface="Segoe UI" pitchFamily="34" charset="0"/>
                <a:ea typeface="Segoe UI" pitchFamily="34" charset="-122"/>
                <a:cs typeface="Segoe UI" pitchFamily="34" charset="-120"/>
              </a:rPr>
              <a:t>All five suppliers exceed the 2% defect ceiling and fall short of the 95% on-time target.</a:t>
            </a:r>
            <a:endParaRPr lang="en-US" sz="1000" dirty="0"/>
          </a:p>
        </p:txBody>
      </p:sp>
      <p:sp>
        <p:nvSpPr>
          <p:cNvPr id="9"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10" name="Text 5"/>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11" name="Text 6"/>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a:solidFill>
                  <a:srgbClr val="F2A81D"/>
                </a:solidFill>
                <a:latin typeface="Segoe UI" pitchFamily="34" charset="0"/>
                <a:ea typeface="Segoe UI" pitchFamily="34" charset="-122"/>
                <a:cs typeface="Segoe UI" pitchFamily="34" charset="-120"/>
              </a:rPr>
              <a:t>PROPOSED SOLUTIONS</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Proposed strategies</a:t>
            </a:r>
            <a:endParaRPr lang="en-US" sz="2600" dirty="0"/>
          </a:p>
        </p:txBody>
      </p:sp>
      <p:sp>
        <p:nvSpPr>
          <p:cNvPr id="6" name="General panel">
            <a:extLst>
              <a:ext uri="{C183D7F6-B498-43B3-948B-1728B52AA6E4}">
                <adec:decorative xmlns:adec="http://schemas.microsoft.com/office/drawing/2017/decorative" val="1"/>
              </a:ext>
            </a:extLst>
          </p:cNvPr>
          <p:cNvSpPr/>
          <p:nvPr/>
        </p:nvSpPr>
        <p:spPr>
          <a:xfrm>
            <a:off x="548640" y="1481328"/>
            <a:ext cx="3931920" cy="3108960"/>
          </a:xfrm>
          <a:prstGeom prst="rect">
            <a:avLst/>
          </a:prstGeom>
          <a:solidFill>
            <a:srgbClr val="13304F"/>
          </a:solidFill>
          <a:ln w="12700">
            <a:solidFill>
              <a:srgbClr val="13304F"/>
            </a:solidFill>
            <a:prstDash val="solid"/>
          </a:ln>
        </p:spPr>
        <p:txBody>
          <a:bodyPr/>
          <a:lstStyle/>
          <a:p>
            <a:endParaRPr lang="en-US"/>
          </a:p>
        </p:txBody>
      </p:sp>
      <p:sp>
        <p:nvSpPr>
          <p:cNvPr id="7" name="Panel rule">
            <a:extLst>
              <a:ext uri="{C183D7F6-B498-43B3-948B-1728B52AA6E4}">
                <adec:decorative xmlns:adec="http://schemas.microsoft.com/office/drawing/2017/decorative" val="1"/>
              </a:ext>
            </a:extLst>
          </p:cNvPr>
          <p:cNvSpPr/>
          <p:nvPr/>
        </p:nvSpPr>
        <p:spPr>
          <a:xfrm>
            <a:off x="548640" y="1481328"/>
            <a:ext cx="3931920" cy="45720"/>
          </a:xfrm>
          <a:prstGeom prst="rect">
            <a:avLst/>
          </a:prstGeom>
          <a:solidFill>
            <a:srgbClr val="F2A81D"/>
          </a:solidFill>
          <a:ln w="12700">
            <a:solidFill>
              <a:srgbClr val="F2A81D"/>
            </a:solidFill>
            <a:prstDash val="solid"/>
          </a:ln>
        </p:spPr>
        <p:txBody>
          <a:bodyPr/>
          <a:lstStyle/>
          <a:p>
            <a:endParaRPr lang="en-US"/>
          </a:p>
        </p:txBody>
      </p:sp>
      <p:sp>
        <p:nvSpPr>
          <p:cNvPr id="8" name="Text 5"/>
          <p:cNvSpPr/>
          <p:nvPr/>
        </p:nvSpPr>
        <p:spPr>
          <a:xfrm>
            <a:off x="777240" y="1645920"/>
            <a:ext cx="3474720" cy="292608"/>
          </a:xfrm>
          <a:prstGeom prst="rect">
            <a:avLst/>
          </a:prstGeom>
          <a:noFill/>
          <a:ln/>
        </p:spPr>
        <p:txBody>
          <a:bodyPr wrap="square" lIns="0" tIns="0" rIns="0" bIns="0" rtlCol="0" anchor="ctr"/>
          <a:lstStyle/>
          <a:p>
            <a:pPr marL="0" indent="0">
              <a:buNone/>
            </a:pPr>
            <a:r>
              <a:rPr lang="en-US" sz="1400" b="1" dirty="0">
                <a:solidFill>
                  <a:srgbClr val="FFC65C"/>
                </a:solidFill>
                <a:latin typeface="Segoe UI" pitchFamily="34" charset="0"/>
                <a:ea typeface="Segoe UI" pitchFamily="34" charset="-122"/>
                <a:cs typeface="Segoe UI" pitchFamily="34" charset="-120"/>
              </a:rPr>
              <a:t>General strategies</a:t>
            </a:r>
            <a:endParaRPr lang="en-US" sz="1400" dirty="0"/>
          </a:p>
        </p:txBody>
      </p:sp>
      <p:sp>
        <p:nvSpPr>
          <p:cNvPr id="9" name="Text 6"/>
          <p:cNvSpPr/>
          <p:nvPr/>
        </p:nvSpPr>
        <p:spPr>
          <a:xfrm>
            <a:off x="777240" y="2029968"/>
            <a:ext cx="3474720" cy="201168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D6E2EE"/>
                </a:solidFill>
                <a:latin typeface="Segoe UI" pitchFamily="34" charset="0"/>
                <a:ea typeface="Segoe UI" pitchFamily="34" charset="-122"/>
                <a:cs typeface="Segoe UI" pitchFamily="34" charset="-120"/>
              </a:rPr>
              <a:t>Expedited shipping for delayed components</a:t>
            </a:r>
            <a:endParaRPr lang="en-US" sz="1100" dirty="0"/>
          </a:p>
          <a:p>
            <a:pPr marL="342900" indent="-342900">
              <a:spcAft>
                <a:spcPts val="1000"/>
              </a:spcAft>
              <a:buSzPct val="100000"/>
              <a:buChar char="•"/>
            </a:pPr>
            <a:r>
              <a:rPr lang="en-US" sz="1100" dirty="0">
                <a:solidFill>
                  <a:srgbClr val="D6E2EE"/>
                </a:solidFill>
                <a:latin typeface="Segoe UI" pitchFamily="34" charset="0"/>
                <a:ea typeface="Segoe UI" pitchFamily="34" charset="-122"/>
                <a:cs typeface="Segoe UI" pitchFamily="34" charset="-120"/>
              </a:rPr>
              <a:t>Alternative suppliers to diversify risk</a:t>
            </a:r>
            <a:endParaRPr lang="en-US" sz="1100" dirty="0"/>
          </a:p>
          <a:p>
            <a:pPr marL="342900" indent="-342900">
              <a:spcAft>
                <a:spcPts val="1000"/>
              </a:spcAft>
              <a:buSzPct val="100000"/>
              <a:buChar char="•"/>
            </a:pPr>
            <a:r>
              <a:rPr lang="en-US" sz="1100" dirty="0">
                <a:solidFill>
                  <a:srgbClr val="D6E2EE"/>
                </a:solidFill>
                <a:latin typeface="Segoe UI" pitchFamily="34" charset="0"/>
                <a:ea typeface="Segoe UI" pitchFamily="34" charset="-122"/>
                <a:cs typeface="Segoe UI" pitchFamily="34" charset="-120"/>
              </a:rPr>
              <a:t>Safety-stock levels reassessed as a buffer</a:t>
            </a:r>
            <a:endParaRPr lang="en-US" sz="1100" dirty="0"/>
          </a:p>
          <a:p>
            <a:pPr marL="342900" indent="-342900">
              <a:spcAft>
                <a:spcPts val="1000"/>
              </a:spcAft>
              <a:buSzPct val="100000"/>
              <a:buChar char="•"/>
            </a:pPr>
            <a:r>
              <a:rPr lang="en-US" sz="1100" dirty="0">
                <a:solidFill>
                  <a:srgbClr val="D6E2EE"/>
                </a:solidFill>
                <a:latin typeface="Segoe UI" pitchFamily="34" charset="0"/>
                <a:ea typeface="Segoe UI" pitchFamily="34" charset="-122"/>
                <a:cs typeface="Segoe UI" pitchFamily="34" charset="-120"/>
              </a:rPr>
              <a:t>AI-driven monitoring for real-time updates</a:t>
            </a:r>
            <a:endParaRPr lang="en-US" sz="1100" dirty="0"/>
          </a:p>
          <a:p>
            <a:pPr marL="342900" indent="-342900">
              <a:spcAft>
                <a:spcPts val="1000"/>
              </a:spcAft>
              <a:buSzPct val="100000"/>
              <a:buChar char="•"/>
            </a:pPr>
            <a:r>
              <a:rPr lang="en-US" sz="1100" dirty="0">
                <a:solidFill>
                  <a:srgbClr val="D6E2EE"/>
                </a:solidFill>
                <a:latin typeface="Segoe UI" pitchFamily="34" charset="0"/>
                <a:ea typeface="Segoe UI" pitchFamily="34" charset="-122"/>
                <a:cs typeface="Segoe UI" pitchFamily="34" charset="-120"/>
              </a:rPr>
              <a:t>Supplier audits to identify systemic issues</a:t>
            </a:r>
            <a:endParaRPr lang="en-US" sz="1100" dirty="0"/>
          </a:p>
        </p:txBody>
      </p:sp>
      <p:sp>
        <p:nvSpPr>
          <p:cNvPr id="10" name="Specific card">
            <a:extLst>
              <a:ext uri="{C183D7F6-B498-43B3-948B-1728B52AA6E4}">
                <adec:decorative xmlns:adec="http://schemas.microsoft.com/office/drawing/2017/decorative" val="1"/>
              </a:ext>
            </a:extLst>
          </p:cNvPr>
          <p:cNvSpPr/>
          <p:nvPr/>
        </p:nvSpPr>
        <p:spPr>
          <a:xfrm>
            <a:off x="4663440" y="1481328"/>
            <a:ext cx="3931920" cy="969264"/>
          </a:xfrm>
          <a:prstGeom prst="rect">
            <a:avLst/>
          </a:prstGeom>
          <a:solidFill>
            <a:srgbClr val="17395C"/>
          </a:solidFill>
          <a:ln w="12700">
            <a:solidFill>
              <a:srgbClr val="17395C"/>
            </a:solidFill>
            <a:prstDash val="solid"/>
          </a:ln>
        </p:spPr>
        <p:txBody>
          <a:bodyPr/>
          <a:lstStyle/>
          <a:p>
            <a:endParaRPr lang="en-US"/>
          </a:p>
        </p:txBody>
      </p:sp>
      <p:sp>
        <p:nvSpPr>
          <p:cNvPr id="11" name="Card accent">
            <a:extLst>
              <a:ext uri="{C183D7F6-B498-43B3-948B-1728B52AA6E4}">
                <adec:decorative xmlns:adec="http://schemas.microsoft.com/office/drawing/2017/decorative" val="1"/>
              </a:ext>
            </a:extLst>
          </p:cNvPr>
          <p:cNvSpPr/>
          <p:nvPr/>
        </p:nvSpPr>
        <p:spPr>
          <a:xfrm>
            <a:off x="4663440" y="1481328"/>
            <a:ext cx="54864" cy="969264"/>
          </a:xfrm>
          <a:prstGeom prst="rect">
            <a:avLst/>
          </a:prstGeom>
          <a:solidFill>
            <a:srgbClr val="F2A81D"/>
          </a:solidFill>
          <a:ln w="12700">
            <a:solidFill>
              <a:srgbClr val="F2A81D"/>
            </a:solidFill>
            <a:prstDash val="solid"/>
          </a:ln>
        </p:spPr>
        <p:txBody>
          <a:bodyPr/>
          <a:lstStyle/>
          <a:p>
            <a:endParaRPr lang="en-US"/>
          </a:p>
        </p:txBody>
      </p:sp>
      <p:sp>
        <p:nvSpPr>
          <p:cNvPr id="12" name="Text 9"/>
          <p:cNvSpPr/>
          <p:nvPr/>
        </p:nvSpPr>
        <p:spPr>
          <a:xfrm>
            <a:off x="4892040" y="1609344"/>
            <a:ext cx="3520440" cy="256032"/>
          </a:xfrm>
          <a:prstGeom prst="rect">
            <a:avLst/>
          </a:prstGeom>
          <a:noFill/>
          <a:ln/>
        </p:spPr>
        <p:txBody>
          <a:bodyPr wrap="square" lIns="0" tIns="0" rIns="0" bIns="0" rtlCol="0" anchor="ctr"/>
          <a:lstStyle/>
          <a:p>
            <a:pPr marL="0" indent="0">
              <a:buNone/>
            </a:pPr>
            <a:r>
              <a:rPr lang="en-US" sz="1150" b="1" dirty="0">
                <a:solidFill>
                  <a:srgbClr val="FFC65C"/>
                </a:solidFill>
                <a:latin typeface="Segoe UI" pitchFamily="34" charset="0"/>
                <a:ea typeface="Segoe UI" pitchFamily="34" charset="-122"/>
                <a:cs typeface="Segoe UI" pitchFamily="34" charset="-120"/>
              </a:rPr>
              <a:t>BIND567 — EcoSupply</a:t>
            </a:r>
            <a:endParaRPr lang="en-US" sz="1150" dirty="0"/>
          </a:p>
        </p:txBody>
      </p:sp>
      <p:sp>
        <p:nvSpPr>
          <p:cNvPr id="13" name="Text 10"/>
          <p:cNvSpPr/>
          <p:nvPr/>
        </p:nvSpPr>
        <p:spPr>
          <a:xfrm>
            <a:off x="4892040" y="1883664"/>
            <a:ext cx="3520440" cy="457200"/>
          </a:xfrm>
          <a:prstGeom prst="rect">
            <a:avLst/>
          </a:prstGeom>
          <a:noFill/>
          <a:ln/>
        </p:spPr>
        <p:txBody>
          <a:bodyPr wrap="square" lIns="0" tIns="0" rIns="0" bIns="0" rtlCol="0" anchor="t"/>
          <a:lstStyle/>
          <a:p>
            <a:pPr marL="0" indent="0">
              <a:buNone/>
            </a:pPr>
            <a:r>
              <a:rPr lang="en-US" sz="1000" dirty="0">
                <a:solidFill>
                  <a:srgbClr val="D6E2EE"/>
                </a:solidFill>
                <a:latin typeface="Segoe UI" pitchFamily="34" charset="0"/>
                <a:ea typeface="Segoe UI" pitchFamily="34" charset="-122"/>
                <a:cs typeface="Segoe UI" pitchFamily="34" charset="-120"/>
              </a:rPr>
              <a:t>Negotiate expedited shipping terms. Increase the inventory buffer to mitigate future delays.</a:t>
            </a:r>
            <a:endParaRPr lang="en-US" sz="1000" dirty="0"/>
          </a:p>
        </p:txBody>
      </p:sp>
      <p:sp>
        <p:nvSpPr>
          <p:cNvPr id="14" name="Specific card">
            <a:extLst>
              <a:ext uri="{C183D7F6-B498-43B3-948B-1728B52AA6E4}">
                <adec:decorative xmlns:adec="http://schemas.microsoft.com/office/drawing/2017/decorative" val="1"/>
              </a:ext>
            </a:extLst>
          </p:cNvPr>
          <p:cNvSpPr/>
          <p:nvPr/>
        </p:nvSpPr>
        <p:spPr>
          <a:xfrm>
            <a:off x="4663440" y="2551176"/>
            <a:ext cx="3931920" cy="969264"/>
          </a:xfrm>
          <a:prstGeom prst="rect">
            <a:avLst/>
          </a:prstGeom>
          <a:solidFill>
            <a:srgbClr val="17395C"/>
          </a:solidFill>
          <a:ln w="12700">
            <a:solidFill>
              <a:srgbClr val="17395C"/>
            </a:solidFill>
            <a:prstDash val="solid"/>
          </a:ln>
        </p:spPr>
        <p:txBody>
          <a:bodyPr/>
          <a:lstStyle/>
          <a:p>
            <a:endParaRPr lang="en-US"/>
          </a:p>
        </p:txBody>
      </p:sp>
      <p:sp>
        <p:nvSpPr>
          <p:cNvPr id="15" name="Card accent">
            <a:extLst>
              <a:ext uri="{C183D7F6-B498-43B3-948B-1728B52AA6E4}">
                <adec:decorative xmlns:adec="http://schemas.microsoft.com/office/drawing/2017/decorative" val="1"/>
              </a:ext>
            </a:extLst>
          </p:cNvPr>
          <p:cNvSpPr/>
          <p:nvPr/>
        </p:nvSpPr>
        <p:spPr>
          <a:xfrm>
            <a:off x="4663440" y="2551176"/>
            <a:ext cx="54864" cy="969264"/>
          </a:xfrm>
          <a:prstGeom prst="rect">
            <a:avLst/>
          </a:prstGeom>
          <a:solidFill>
            <a:srgbClr val="F2A81D"/>
          </a:solidFill>
          <a:ln w="12700">
            <a:solidFill>
              <a:srgbClr val="F2A81D"/>
            </a:solidFill>
            <a:prstDash val="solid"/>
          </a:ln>
        </p:spPr>
        <p:txBody>
          <a:bodyPr/>
          <a:lstStyle/>
          <a:p>
            <a:endParaRPr lang="en-US"/>
          </a:p>
        </p:txBody>
      </p:sp>
      <p:sp>
        <p:nvSpPr>
          <p:cNvPr id="16" name="Text 13"/>
          <p:cNvSpPr/>
          <p:nvPr/>
        </p:nvSpPr>
        <p:spPr>
          <a:xfrm>
            <a:off x="4892040" y="2679192"/>
            <a:ext cx="3520440" cy="256032"/>
          </a:xfrm>
          <a:prstGeom prst="rect">
            <a:avLst/>
          </a:prstGeom>
          <a:noFill/>
          <a:ln/>
        </p:spPr>
        <p:txBody>
          <a:bodyPr wrap="square" lIns="0" tIns="0" rIns="0" bIns="0" rtlCol="0" anchor="ctr"/>
          <a:lstStyle/>
          <a:p>
            <a:pPr marL="0" indent="0">
              <a:buNone/>
            </a:pPr>
            <a:r>
              <a:rPr lang="en-US" sz="1150" b="1" dirty="0">
                <a:solidFill>
                  <a:srgbClr val="FFC65C"/>
                </a:solidFill>
                <a:latin typeface="Segoe UI" pitchFamily="34" charset="0"/>
                <a:ea typeface="Segoe UI" pitchFamily="34" charset="-122"/>
                <a:cs typeface="Segoe UI" pitchFamily="34" charset="-120"/>
              </a:rPr>
              <a:t>COMP042 — PrimeLogistics</a:t>
            </a:r>
            <a:endParaRPr lang="en-US" sz="1150" dirty="0"/>
          </a:p>
        </p:txBody>
      </p:sp>
      <p:sp>
        <p:nvSpPr>
          <p:cNvPr id="17" name="Text 14"/>
          <p:cNvSpPr/>
          <p:nvPr/>
        </p:nvSpPr>
        <p:spPr>
          <a:xfrm>
            <a:off x="4892040" y="2953512"/>
            <a:ext cx="3520440" cy="457200"/>
          </a:xfrm>
          <a:prstGeom prst="rect">
            <a:avLst/>
          </a:prstGeom>
          <a:noFill/>
          <a:ln/>
        </p:spPr>
        <p:txBody>
          <a:bodyPr wrap="square" lIns="0" tIns="0" rIns="0" bIns="0" rtlCol="0" anchor="t"/>
          <a:lstStyle/>
          <a:p>
            <a:pPr marL="0" indent="0">
              <a:buNone/>
            </a:pPr>
            <a:r>
              <a:rPr lang="en-US" sz="1000" dirty="0">
                <a:solidFill>
                  <a:srgbClr val="D6E2EE"/>
                </a:solidFill>
                <a:latin typeface="Segoe UI" pitchFamily="34" charset="0"/>
                <a:ea typeface="Segoe UI" pitchFamily="34" charset="-122"/>
                <a:cs typeface="Segoe UI" pitchFamily="34" charset="-120"/>
              </a:rPr>
              <a:t>Collaborate on demand planning. Adjust order cycles for lead-time variance.</a:t>
            </a:r>
            <a:endParaRPr lang="en-US" sz="1000" dirty="0"/>
          </a:p>
        </p:txBody>
      </p:sp>
      <p:sp>
        <p:nvSpPr>
          <p:cNvPr id="18" name="Specific card">
            <a:extLst>
              <a:ext uri="{C183D7F6-B498-43B3-948B-1728B52AA6E4}">
                <adec:decorative xmlns:adec="http://schemas.microsoft.com/office/drawing/2017/decorative" val="1"/>
              </a:ext>
            </a:extLst>
          </p:cNvPr>
          <p:cNvSpPr/>
          <p:nvPr/>
        </p:nvSpPr>
        <p:spPr>
          <a:xfrm>
            <a:off x="4663440" y="3621024"/>
            <a:ext cx="3931920" cy="969264"/>
          </a:xfrm>
          <a:prstGeom prst="rect">
            <a:avLst/>
          </a:prstGeom>
          <a:solidFill>
            <a:srgbClr val="17395C"/>
          </a:solidFill>
          <a:ln w="12700">
            <a:solidFill>
              <a:srgbClr val="17395C"/>
            </a:solidFill>
            <a:prstDash val="solid"/>
          </a:ln>
        </p:spPr>
        <p:txBody>
          <a:bodyPr/>
          <a:lstStyle/>
          <a:p>
            <a:endParaRPr lang="en-US"/>
          </a:p>
        </p:txBody>
      </p:sp>
      <p:sp>
        <p:nvSpPr>
          <p:cNvPr id="19" name="Card accent">
            <a:extLst>
              <a:ext uri="{C183D7F6-B498-43B3-948B-1728B52AA6E4}">
                <adec:decorative xmlns:adec="http://schemas.microsoft.com/office/drawing/2017/decorative" val="1"/>
              </a:ext>
            </a:extLst>
          </p:cNvPr>
          <p:cNvSpPr/>
          <p:nvPr/>
        </p:nvSpPr>
        <p:spPr>
          <a:xfrm>
            <a:off x="4663440" y="3621024"/>
            <a:ext cx="54864" cy="969264"/>
          </a:xfrm>
          <a:prstGeom prst="rect">
            <a:avLst/>
          </a:prstGeom>
          <a:solidFill>
            <a:srgbClr val="F2A81D"/>
          </a:solidFill>
          <a:ln w="12700">
            <a:solidFill>
              <a:srgbClr val="F2A81D"/>
            </a:solidFill>
            <a:prstDash val="solid"/>
          </a:ln>
        </p:spPr>
        <p:txBody>
          <a:bodyPr/>
          <a:lstStyle/>
          <a:p>
            <a:endParaRPr lang="en-US"/>
          </a:p>
        </p:txBody>
      </p:sp>
      <p:sp>
        <p:nvSpPr>
          <p:cNvPr id="20" name="Text 17"/>
          <p:cNvSpPr/>
          <p:nvPr/>
        </p:nvSpPr>
        <p:spPr>
          <a:xfrm>
            <a:off x="4892040" y="3749040"/>
            <a:ext cx="3520440" cy="256032"/>
          </a:xfrm>
          <a:prstGeom prst="rect">
            <a:avLst/>
          </a:prstGeom>
          <a:noFill/>
          <a:ln/>
        </p:spPr>
        <p:txBody>
          <a:bodyPr wrap="square" lIns="0" tIns="0" rIns="0" bIns="0" rtlCol="0" anchor="ctr"/>
          <a:lstStyle/>
          <a:p>
            <a:pPr marL="0" indent="0">
              <a:buNone/>
            </a:pPr>
            <a:r>
              <a:rPr lang="en-US" sz="1150" b="1" dirty="0">
                <a:solidFill>
                  <a:srgbClr val="FFC65C"/>
                </a:solidFill>
                <a:latin typeface="Segoe UI" pitchFamily="34" charset="0"/>
                <a:ea typeface="Segoe UI" pitchFamily="34" charset="-122"/>
                <a:cs typeface="Segoe UI" pitchFamily="34" charset="-120"/>
              </a:rPr>
              <a:t>COMP043 — NextGen Pharma</a:t>
            </a:r>
            <a:endParaRPr lang="en-US" sz="1150" dirty="0"/>
          </a:p>
        </p:txBody>
      </p:sp>
      <p:sp>
        <p:nvSpPr>
          <p:cNvPr id="21" name="Text 18"/>
          <p:cNvSpPr/>
          <p:nvPr/>
        </p:nvSpPr>
        <p:spPr>
          <a:xfrm>
            <a:off x="4892040" y="4023360"/>
            <a:ext cx="3520440" cy="457200"/>
          </a:xfrm>
          <a:prstGeom prst="rect">
            <a:avLst/>
          </a:prstGeom>
          <a:noFill/>
          <a:ln/>
        </p:spPr>
        <p:txBody>
          <a:bodyPr wrap="square" lIns="0" tIns="0" rIns="0" bIns="0" rtlCol="0" anchor="t"/>
          <a:lstStyle/>
          <a:p>
            <a:pPr marL="0" indent="0">
              <a:buNone/>
            </a:pPr>
            <a:r>
              <a:rPr lang="en-US" sz="1000" dirty="0">
                <a:solidFill>
                  <a:srgbClr val="D6E2EE"/>
                </a:solidFill>
                <a:latin typeface="Segoe UI" pitchFamily="34" charset="0"/>
                <a:ea typeface="Segoe UI" pitchFamily="34" charset="-122"/>
                <a:cs typeface="Segoe UI" pitchFamily="34" charset="-120"/>
              </a:rPr>
              <a:t>Improve forecasting accuracy. Implement dynamic inventory replenishment.</a:t>
            </a:r>
            <a:endParaRPr lang="en-US" sz="1000" dirty="0"/>
          </a:p>
        </p:txBody>
      </p:sp>
      <p:sp>
        <p:nvSpPr>
          <p:cNvPr id="22"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23" name="Text 20"/>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24" name="Text 21"/>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10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3" name="Accent rule">
            <a:extLst>
              <a:ext uri="{C183D7F6-B498-43B3-948B-1728B52AA6E4}">
                <adec:decorative xmlns:adec="http://schemas.microsoft.com/office/drawing/2017/decorative" val="1"/>
              </a:ext>
            </a:extLst>
          </p:cNvPr>
          <p:cNvSpPr/>
          <p:nvPr/>
        </p:nvSpPr>
        <p:spPr>
          <a:xfrm>
            <a:off x="548640" y="384048"/>
            <a:ext cx="457200" cy="45720"/>
          </a:xfrm>
          <a:prstGeom prst="rect">
            <a:avLst/>
          </a:prstGeom>
          <a:solidFill>
            <a:srgbClr val="F2A81D"/>
          </a:solidFill>
          <a:ln w="12700">
            <a:solidFill>
              <a:srgbClr val="F2A81D"/>
            </a:solidFill>
            <a:prstDash val="solid"/>
          </a:ln>
        </p:spPr>
        <p:txBody>
          <a:bodyPr/>
          <a:lstStyle/>
          <a:p>
            <a:endParaRPr lang="en-US"/>
          </a:p>
        </p:txBody>
      </p:sp>
      <p:sp>
        <p:nvSpPr>
          <p:cNvPr id="4" name="Text 1"/>
          <p:cNvSpPr/>
          <p:nvPr/>
        </p:nvSpPr>
        <p:spPr>
          <a:xfrm>
            <a:off x="548640" y="502920"/>
            <a:ext cx="8046720" cy="256032"/>
          </a:xfrm>
          <a:prstGeom prst="rect">
            <a:avLst/>
          </a:prstGeom>
          <a:noFill/>
          <a:ln/>
        </p:spPr>
        <p:txBody>
          <a:bodyPr wrap="square" lIns="0" tIns="0" rIns="0" bIns="0" rtlCol="0" anchor="ctr"/>
          <a:lstStyle/>
          <a:p>
            <a:pPr marL="0" indent="0">
              <a:buNone/>
            </a:pPr>
            <a:r>
              <a:rPr lang="en-US" sz="1050" b="1" kern="0" spc="200">
                <a:solidFill>
                  <a:srgbClr val="F2A81D"/>
                </a:solidFill>
                <a:latin typeface="Segoe UI" pitchFamily="34" charset="0"/>
                <a:ea typeface="Segoe UI" pitchFamily="34" charset="-122"/>
                <a:cs typeface="Segoe UI" pitchFamily="34" charset="-120"/>
              </a:rPr>
              <a:t>IMPLEMENTATION</a:t>
            </a:r>
            <a:r>
              <a:rPr lang="en-US" sz="1050" b="1" kern="0" spc="200" dirty="0">
                <a:solidFill>
                  <a:srgbClr val="F2A81D"/>
                </a:solidFill>
                <a:latin typeface="Segoe UI" pitchFamily="34" charset="0"/>
                <a:ea typeface="Segoe UI" pitchFamily="34" charset="-122"/>
                <a:cs typeface="Segoe UI" pitchFamily="34" charset="-120"/>
              </a:rPr>
              <a:t> PLAN</a:t>
            </a:r>
            <a:endParaRPr lang="en-US" sz="1050" dirty="0"/>
          </a:p>
        </p:txBody>
      </p:sp>
      <p:sp>
        <p:nvSpPr>
          <p:cNvPr id="5" name="Text 2"/>
          <p:cNvSpPr/>
          <p:nvPr/>
        </p:nvSpPr>
        <p:spPr>
          <a:xfrm>
            <a:off x="548640" y="758952"/>
            <a:ext cx="8046720" cy="566928"/>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Three horizons from now to 3 months</a:t>
            </a:r>
            <a:endParaRPr lang="en-US" sz="2600" dirty="0"/>
          </a:p>
        </p:txBody>
      </p:sp>
      <p:sp>
        <p:nvSpPr>
          <p:cNvPr id="6" name="Timeline rule">
            <a:extLst>
              <a:ext uri="{C183D7F6-B498-43B3-948B-1728B52AA6E4}">
                <adec:decorative xmlns:adec="http://schemas.microsoft.com/office/drawing/2017/decorative" val="1"/>
              </a:ext>
            </a:extLst>
          </p:cNvPr>
          <p:cNvSpPr/>
          <p:nvPr/>
        </p:nvSpPr>
        <p:spPr>
          <a:xfrm>
            <a:off x="548640" y="1874520"/>
            <a:ext cx="8046720" cy="32004"/>
          </a:xfrm>
          <a:prstGeom prst="rect">
            <a:avLst/>
          </a:prstGeom>
          <a:solidFill>
            <a:srgbClr val="22456B"/>
          </a:solidFill>
          <a:ln w="12700">
            <a:solidFill>
              <a:srgbClr val="22456B"/>
            </a:solidFill>
            <a:prstDash val="solid"/>
          </a:ln>
        </p:spPr>
        <p:txBody>
          <a:bodyPr/>
          <a:lstStyle/>
          <a:p>
            <a:endParaRPr lang="en-US"/>
          </a:p>
        </p:txBody>
      </p:sp>
      <p:sp>
        <p:nvSpPr>
          <p:cNvPr id="7" name="Timeline marker">
            <a:extLst>
              <a:ext uri="{C183D7F6-B498-43B3-948B-1728B52AA6E4}">
                <adec:decorative xmlns:adec="http://schemas.microsoft.com/office/drawing/2017/decorative" val="1"/>
              </a:ext>
            </a:extLst>
          </p:cNvPr>
          <p:cNvSpPr/>
          <p:nvPr/>
        </p:nvSpPr>
        <p:spPr>
          <a:xfrm>
            <a:off x="566928" y="1773936"/>
            <a:ext cx="237744" cy="237744"/>
          </a:xfrm>
          <a:prstGeom prst="ellipse">
            <a:avLst/>
          </a:prstGeom>
          <a:solidFill>
            <a:srgbClr val="F2A81D"/>
          </a:solidFill>
          <a:ln w="12700">
            <a:solidFill>
              <a:srgbClr val="F2A81D"/>
            </a:solidFill>
            <a:prstDash val="solid"/>
          </a:ln>
        </p:spPr>
        <p:txBody>
          <a:bodyPr/>
          <a:lstStyle/>
          <a:p>
            <a:endParaRPr lang="en-US"/>
          </a:p>
        </p:txBody>
      </p:sp>
      <p:sp>
        <p:nvSpPr>
          <p:cNvPr id="8" name="Text 5"/>
          <p:cNvSpPr/>
          <p:nvPr/>
        </p:nvSpPr>
        <p:spPr>
          <a:xfrm>
            <a:off x="548640" y="1481328"/>
            <a:ext cx="2560320" cy="237744"/>
          </a:xfrm>
          <a:prstGeom prst="rect">
            <a:avLst/>
          </a:prstGeom>
          <a:noFill/>
          <a:ln/>
        </p:spPr>
        <p:txBody>
          <a:bodyPr wrap="square" lIns="0" tIns="0" rIns="0" bIns="0" rtlCol="0" anchor="ctr"/>
          <a:lstStyle/>
          <a:p>
            <a:pPr marL="0" indent="0">
              <a:buNone/>
            </a:pPr>
            <a:r>
              <a:rPr lang="en-US" sz="1000" b="1" kern="0" spc="150" dirty="0">
                <a:solidFill>
                  <a:srgbClr val="F2A81D"/>
                </a:solidFill>
                <a:latin typeface="Segoe UI" pitchFamily="34" charset="0"/>
                <a:ea typeface="Segoe UI" pitchFamily="34" charset="-122"/>
                <a:cs typeface="Segoe UI" pitchFamily="34" charset="-120"/>
              </a:rPr>
              <a:t>0–1 WEEK</a:t>
            </a:r>
            <a:endParaRPr lang="en-US" sz="1000" dirty="0"/>
          </a:p>
        </p:txBody>
      </p:sp>
      <p:sp>
        <p:nvSpPr>
          <p:cNvPr id="9" name="Text 6"/>
          <p:cNvSpPr/>
          <p:nvPr/>
        </p:nvSpPr>
        <p:spPr>
          <a:xfrm>
            <a:off x="548640" y="2103120"/>
            <a:ext cx="2560320" cy="292608"/>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Immediate</a:t>
            </a:r>
            <a:endParaRPr lang="en-US" sz="1400" dirty="0"/>
          </a:p>
        </p:txBody>
      </p:sp>
      <p:sp>
        <p:nvSpPr>
          <p:cNvPr id="10" name="Phase card">
            <a:extLst>
              <a:ext uri="{C183D7F6-B498-43B3-948B-1728B52AA6E4}">
                <adec:decorative xmlns:adec="http://schemas.microsoft.com/office/drawing/2017/decorative" val="1"/>
              </a:ext>
            </a:extLst>
          </p:cNvPr>
          <p:cNvSpPr/>
          <p:nvPr/>
        </p:nvSpPr>
        <p:spPr>
          <a:xfrm>
            <a:off x="548640" y="2468880"/>
            <a:ext cx="2560320" cy="2103120"/>
          </a:xfrm>
          <a:prstGeom prst="rect">
            <a:avLst/>
          </a:prstGeom>
          <a:solidFill>
            <a:srgbClr val="13304F"/>
          </a:solidFill>
          <a:ln w="12700">
            <a:solidFill>
              <a:srgbClr val="13304F"/>
            </a:solidFill>
            <a:prstDash val="solid"/>
          </a:ln>
        </p:spPr>
        <p:txBody>
          <a:bodyPr/>
          <a:lstStyle/>
          <a:p>
            <a:endParaRPr lang="en-US"/>
          </a:p>
        </p:txBody>
      </p:sp>
      <p:sp>
        <p:nvSpPr>
          <p:cNvPr id="11" name="Text 8"/>
          <p:cNvSpPr/>
          <p:nvPr/>
        </p:nvSpPr>
        <p:spPr>
          <a:xfrm>
            <a:off x="685800" y="2606040"/>
            <a:ext cx="2286000" cy="1828800"/>
          </a:xfrm>
          <a:prstGeom prst="rect">
            <a:avLst/>
          </a:prstGeom>
          <a:noFill/>
          <a:ln/>
        </p:spPr>
        <p:txBody>
          <a:bodyPr wrap="square" lIns="0" tIns="0" rIns="0" bIns="0" rtlCol="0" anchor="t"/>
          <a:lstStyle/>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Notify suppliers of delays; request expedited shipping options</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Rapid risk assessment for alternative suppliers</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Adjust production schedules within compliance windows</a:t>
            </a:r>
            <a:endParaRPr lang="en-US" sz="950" dirty="0"/>
          </a:p>
        </p:txBody>
      </p:sp>
      <p:sp>
        <p:nvSpPr>
          <p:cNvPr id="12" name="Timeline marker">
            <a:extLst>
              <a:ext uri="{C183D7F6-B498-43B3-948B-1728B52AA6E4}">
                <adec:decorative xmlns:adec="http://schemas.microsoft.com/office/drawing/2017/decorative" val="1"/>
              </a:ext>
            </a:extLst>
          </p:cNvPr>
          <p:cNvSpPr/>
          <p:nvPr/>
        </p:nvSpPr>
        <p:spPr>
          <a:xfrm>
            <a:off x="3310128" y="1773936"/>
            <a:ext cx="237744" cy="237744"/>
          </a:xfrm>
          <a:prstGeom prst="ellipse">
            <a:avLst/>
          </a:prstGeom>
          <a:solidFill>
            <a:srgbClr val="F2A81D"/>
          </a:solidFill>
          <a:ln w="12700">
            <a:solidFill>
              <a:srgbClr val="F2A81D"/>
            </a:solidFill>
            <a:prstDash val="solid"/>
          </a:ln>
        </p:spPr>
        <p:txBody>
          <a:bodyPr/>
          <a:lstStyle/>
          <a:p>
            <a:endParaRPr lang="en-US"/>
          </a:p>
        </p:txBody>
      </p:sp>
      <p:sp>
        <p:nvSpPr>
          <p:cNvPr id="13" name="Text 10"/>
          <p:cNvSpPr/>
          <p:nvPr/>
        </p:nvSpPr>
        <p:spPr>
          <a:xfrm>
            <a:off x="3291840" y="1481328"/>
            <a:ext cx="2560320" cy="237744"/>
          </a:xfrm>
          <a:prstGeom prst="rect">
            <a:avLst/>
          </a:prstGeom>
          <a:noFill/>
          <a:ln/>
        </p:spPr>
        <p:txBody>
          <a:bodyPr wrap="square" lIns="0" tIns="0" rIns="0" bIns="0" rtlCol="0" anchor="ctr"/>
          <a:lstStyle/>
          <a:p>
            <a:pPr marL="0" indent="0">
              <a:buNone/>
            </a:pPr>
            <a:r>
              <a:rPr lang="en-US" sz="1000" b="1" kern="0" spc="150" dirty="0">
                <a:solidFill>
                  <a:srgbClr val="F2A81D"/>
                </a:solidFill>
                <a:latin typeface="Segoe UI" pitchFamily="34" charset="0"/>
                <a:ea typeface="Segoe UI" pitchFamily="34" charset="-122"/>
                <a:cs typeface="Segoe UI" pitchFamily="34" charset="-120"/>
              </a:rPr>
              <a:t>1–3 WEEKS</a:t>
            </a:r>
            <a:endParaRPr lang="en-US" sz="1000" dirty="0"/>
          </a:p>
        </p:txBody>
      </p:sp>
      <p:sp>
        <p:nvSpPr>
          <p:cNvPr id="14" name="Text 11"/>
          <p:cNvSpPr/>
          <p:nvPr/>
        </p:nvSpPr>
        <p:spPr>
          <a:xfrm>
            <a:off x="3291840" y="2103120"/>
            <a:ext cx="2560320" cy="292608"/>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Short term</a:t>
            </a:r>
            <a:endParaRPr lang="en-US" sz="1400" dirty="0"/>
          </a:p>
        </p:txBody>
      </p:sp>
      <p:sp>
        <p:nvSpPr>
          <p:cNvPr id="15" name="Phase card">
            <a:extLst>
              <a:ext uri="{C183D7F6-B498-43B3-948B-1728B52AA6E4}">
                <adec:decorative xmlns:adec="http://schemas.microsoft.com/office/drawing/2017/decorative" val="1"/>
              </a:ext>
            </a:extLst>
          </p:cNvPr>
          <p:cNvSpPr/>
          <p:nvPr/>
        </p:nvSpPr>
        <p:spPr>
          <a:xfrm>
            <a:off x="3291840" y="2468880"/>
            <a:ext cx="2560320" cy="2103120"/>
          </a:xfrm>
          <a:prstGeom prst="rect">
            <a:avLst/>
          </a:prstGeom>
          <a:solidFill>
            <a:srgbClr val="13304F"/>
          </a:solidFill>
          <a:ln w="12700">
            <a:solidFill>
              <a:srgbClr val="13304F"/>
            </a:solidFill>
            <a:prstDash val="solid"/>
          </a:ln>
        </p:spPr>
        <p:txBody>
          <a:bodyPr/>
          <a:lstStyle/>
          <a:p>
            <a:endParaRPr lang="en-US"/>
          </a:p>
        </p:txBody>
      </p:sp>
      <p:sp>
        <p:nvSpPr>
          <p:cNvPr id="16" name="Text 13"/>
          <p:cNvSpPr/>
          <p:nvPr/>
        </p:nvSpPr>
        <p:spPr>
          <a:xfrm>
            <a:off x="3429000" y="2606040"/>
            <a:ext cx="2286000" cy="1828800"/>
          </a:xfrm>
          <a:prstGeom prst="rect">
            <a:avLst/>
          </a:prstGeom>
          <a:noFill/>
          <a:ln/>
        </p:spPr>
        <p:txBody>
          <a:bodyPr wrap="square" lIns="0" tIns="0" rIns="0" bIns="0" rtlCol="0" anchor="t"/>
          <a:lstStyle/>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Refine delivery schedules to minimise lead-time variance</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Update inventory protocols for adjusted safety stock</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Prepare compliance documentation for regulatory risk</a:t>
            </a:r>
            <a:endParaRPr lang="en-US" sz="950" dirty="0"/>
          </a:p>
        </p:txBody>
      </p:sp>
      <p:sp>
        <p:nvSpPr>
          <p:cNvPr id="17" name="Timeline marker">
            <a:extLst>
              <a:ext uri="{C183D7F6-B498-43B3-948B-1728B52AA6E4}">
                <adec:decorative xmlns:adec="http://schemas.microsoft.com/office/drawing/2017/decorative" val="1"/>
              </a:ext>
            </a:extLst>
          </p:cNvPr>
          <p:cNvSpPr/>
          <p:nvPr/>
        </p:nvSpPr>
        <p:spPr>
          <a:xfrm>
            <a:off x="6053328" y="1773936"/>
            <a:ext cx="237744" cy="237744"/>
          </a:xfrm>
          <a:prstGeom prst="ellipse">
            <a:avLst/>
          </a:prstGeom>
          <a:solidFill>
            <a:srgbClr val="F2A81D"/>
          </a:solidFill>
          <a:ln w="12700">
            <a:solidFill>
              <a:srgbClr val="F2A81D"/>
            </a:solidFill>
            <a:prstDash val="solid"/>
          </a:ln>
        </p:spPr>
        <p:txBody>
          <a:bodyPr/>
          <a:lstStyle/>
          <a:p>
            <a:endParaRPr lang="en-US"/>
          </a:p>
        </p:txBody>
      </p:sp>
      <p:sp>
        <p:nvSpPr>
          <p:cNvPr id="18" name="Text 15"/>
          <p:cNvSpPr/>
          <p:nvPr/>
        </p:nvSpPr>
        <p:spPr>
          <a:xfrm>
            <a:off x="6035040" y="1481328"/>
            <a:ext cx="2560320" cy="237744"/>
          </a:xfrm>
          <a:prstGeom prst="rect">
            <a:avLst/>
          </a:prstGeom>
          <a:noFill/>
          <a:ln/>
        </p:spPr>
        <p:txBody>
          <a:bodyPr wrap="square" lIns="0" tIns="0" rIns="0" bIns="0" rtlCol="0" anchor="ctr"/>
          <a:lstStyle/>
          <a:p>
            <a:pPr marL="0" indent="0">
              <a:buNone/>
            </a:pPr>
            <a:r>
              <a:rPr lang="en-US" sz="1000" b="1" kern="0" spc="150" dirty="0">
                <a:solidFill>
                  <a:srgbClr val="F2A81D"/>
                </a:solidFill>
                <a:latin typeface="Segoe UI" pitchFamily="34" charset="0"/>
                <a:ea typeface="Segoe UI" pitchFamily="34" charset="-122"/>
                <a:cs typeface="Segoe UI" pitchFamily="34" charset="-120"/>
              </a:rPr>
              <a:t>1–3 MONTHS</a:t>
            </a:r>
            <a:endParaRPr lang="en-US" sz="1000" dirty="0"/>
          </a:p>
        </p:txBody>
      </p:sp>
      <p:sp>
        <p:nvSpPr>
          <p:cNvPr id="19" name="Text 16"/>
          <p:cNvSpPr/>
          <p:nvPr/>
        </p:nvSpPr>
        <p:spPr>
          <a:xfrm>
            <a:off x="6035040" y="2103120"/>
            <a:ext cx="2560320" cy="292608"/>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Long term</a:t>
            </a:r>
            <a:endParaRPr lang="en-US" sz="1400" dirty="0"/>
          </a:p>
        </p:txBody>
      </p:sp>
      <p:sp>
        <p:nvSpPr>
          <p:cNvPr id="20" name="Phase card">
            <a:extLst>
              <a:ext uri="{C183D7F6-B498-43B3-948B-1728B52AA6E4}">
                <adec:decorative xmlns:adec="http://schemas.microsoft.com/office/drawing/2017/decorative" val="1"/>
              </a:ext>
            </a:extLst>
          </p:cNvPr>
          <p:cNvSpPr/>
          <p:nvPr/>
        </p:nvSpPr>
        <p:spPr>
          <a:xfrm>
            <a:off x="6035040" y="2468880"/>
            <a:ext cx="2560320" cy="2103120"/>
          </a:xfrm>
          <a:prstGeom prst="rect">
            <a:avLst/>
          </a:prstGeom>
          <a:solidFill>
            <a:srgbClr val="13304F"/>
          </a:solidFill>
          <a:ln w="12700">
            <a:solidFill>
              <a:srgbClr val="13304F"/>
            </a:solidFill>
            <a:prstDash val="solid"/>
          </a:ln>
        </p:spPr>
        <p:txBody>
          <a:bodyPr/>
          <a:lstStyle/>
          <a:p>
            <a:endParaRPr lang="en-US"/>
          </a:p>
        </p:txBody>
      </p:sp>
      <p:sp>
        <p:nvSpPr>
          <p:cNvPr id="21" name="Text 18"/>
          <p:cNvSpPr/>
          <p:nvPr/>
        </p:nvSpPr>
        <p:spPr>
          <a:xfrm>
            <a:off x="6172200" y="2606040"/>
            <a:ext cx="2286000" cy="1828800"/>
          </a:xfrm>
          <a:prstGeom prst="rect">
            <a:avLst/>
          </a:prstGeom>
          <a:noFill/>
          <a:ln/>
        </p:spPr>
        <p:txBody>
          <a:bodyPr wrap="square" lIns="0" tIns="0" rIns="0" bIns="0" rtlCol="0" anchor="t"/>
          <a:lstStyle/>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Evaluate supplier metrics for long-term partnerships</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Deploy advanced supply-chain analytics and predictive insight</a:t>
            </a:r>
            <a:endParaRPr lang="en-US" sz="950" dirty="0"/>
          </a:p>
          <a:p>
            <a:pPr marL="342900" indent="-342900">
              <a:spcAft>
                <a:spcPts val="800"/>
              </a:spcAft>
              <a:buSzPct val="100000"/>
              <a:buChar char="•"/>
            </a:pPr>
            <a:r>
              <a:rPr lang="en-US" sz="950" dirty="0">
                <a:solidFill>
                  <a:srgbClr val="D6E2EE"/>
                </a:solidFill>
                <a:latin typeface="Segoe UI" pitchFamily="34" charset="0"/>
                <a:ea typeface="Segoe UI" pitchFamily="34" charset="-122"/>
                <a:cs typeface="Segoe UI" pitchFamily="34" charset="-120"/>
              </a:rPr>
              <a:t>Establish contingency agreements with secondary suppliers</a:t>
            </a:r>
            <a:endParaRPr lang="en-US" sz="950" dirty="0"/>
          </a:p>
        </p:txBody>
      </p:sp>
      <p:sp>
        <p:nvSpPr>
          <p:cNvPr id="22" name="Footer rule">
            <a:extLst>
              <a:ext uri="{C183D7F6-B498-43B3-948B-1728B52AA6E4}">
                <adec:decorative xmlns:adec="http://schemas.microsoft.com/office/drawing/2017/decorative" val="1"/>
              </a:ext>
            </a:extLst>
          </p:cNvPr>
          <p:cNvSpPr/>
          <p:nvPr/>
        </p:nvSpPr>
        <p:spPr>
          <a:xfrm>
            <a:off x="0" y="4901184"/>
            <a:ext cx="9144000" cy="18288"/>
          </a:xfrm>
          <a:prstGeom prst="rect">
            <a:avLst/>
          </a:prstGeom>
          <a:solidFill>
            <a:srgbClr val="22456B"/>
          </a:solidFill>
          <a:ln w="12700">
            <a:solidFill>
              <a:srgbClr val="22456B"/>
            </a:solidFill>
            <a:prstDash val="solid"/>
          </a:ln>
        </p:spPr>
        <p:txBody>
          <a:bodyPr/>
          <a:lstStyle/>
          <a:p>
            <a:endParaRPr lang="en-US"/>
          </a:p>
        </p:txBody>
      </p:sp>
      <p:sp>
        <p:nvSpPr>
          <p:cNvPr id="23" name="Text 20"/>
          <p:cNvSpPr/>
          <p:nvPr/>
        </p:nvSpPr>
        <p:spPr>
          <a:xfrm>
            <a:off x="548640" y="4937760"/>
            <a:ext cx="5486400" cy="201168"/>
          </a:xfrm>
          <a:prstGeom prst="rect">
            <a:avLst/>
          </a:prstGeom>
          <a:noFill/>
          <a:ln/>
        </p:spPr>
        <p:txBody>
          <a:bodyPr wrap="square" lIns="0" tIns="0" rIns="0" bIns="0" rtlCol="0" anchor="ctr"/>
          <a:lstStyle/>
          <a:p>
            <a:pPr marL="0" indent="0">
              <a:buNone/>
            </a:pPr>
            <a:r>
              <a:rPr lang="en-US" sz="850" dirty="0">
                <a:solidFill>
                  <a:srgbClr val="C3D5E6"/>
                </a:solidFill>
                <a:latin typeface="Segoe UI" pitchFamily="34" charset="0"/>
                <a:ea typeface="Segoe UI" pitchFamily="34" charset="-122"/>
                <a:cs typeface="Segoe UI" pitchFamily="34" charset="-120"/>
              </a:rPr>
              <a:t>Supply Chain Issue Compliance Report</a:t>
            </a:r>
            <a:endParaRPr lang="en-US" sz="850" dirty="0"/>
          </a:p>
        </p:txBody>
      </p:sp>
      <p:sp>
        <p:nvSpPr>
          <p:cNvPr id="24" name="Text 21"/>
          <p:cNvSpPr/>
          <p:nvPr/>
        </p:nvSpPr>
        <p:spPr>
          <a:xfrm>
            <a:off x="8046720" y="4937760"/>
            <a:ext cx="548640" cy="201168"/>
          </a:xfrm>
          <a:prstGeom prst="rect">
            <a:avLst/>
          </a:prstGeom>
          <a:noFill/>
          <a:ln/>
        </p:spPr>
        <p:txBody>
          <a:bodyPr wrap="square" lIns="0" tIns="0" rIns="0" bIns="0" rtlCol="0" anchor="ctr"/>
          <a:lstStyle/>
          <a:p>
            <a:pPr marL="0" indent="0" algn="r">
              <a:buNone/>
            </a:pPr>
            <a:r>
              <a:rPr lang="en-US" sz="850" dirty="0">
                <a:solidFill>
                  <a:srgbClr val="C3D5E6"/>
                </a:solidFill>
                <a:latin typeface="Segoe UI" pitchFamily="34" charset="0"/>
                <a:ea typeface="Segoe UI" pitchFamily="34" charset="-122"/>
                <a:cs typeface="Segoe UI" pitchFamily="34" charset="-120"/>
              </a:rPr>
              <a:t>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1178</Words>
  <Application>Microsoft Office PowerPoint</Application>
  <PresentationFormat>On-screen Show (16:9)</PresentationFormat>
  <Paragraphs>153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Shah-Aga, Said-Aga</dc:creator>
  <cp:lastModifiedBy>Shah-Aga, Said-Aga</cp:lastModifiedBy>
  <cp:revision>1</cp:revision>
  <dcterms:created xsi:type="dcterms:W3CDTF">2026-08-27T11:24:26Z</dcterms:created>
  <dcterms:modified xsi:type="dcterms:W3CDTF">2026-08-28T09:51:07Z</dcterms:modified>
</cp:coreProperties>
</file>